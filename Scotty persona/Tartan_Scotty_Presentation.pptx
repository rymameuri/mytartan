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 (Title) ~30 seconds
"Good [morning/afternoon] everyone. Today we're presenting Tartan Scotty — an AI-powered student assistant we built specifically for CMU-Q.
The idea is simple: students at CMU-Q spend a lot of time hunting through Scotty, emails, and offices to find answers to basic questions. We asked — what if you could just ask? And Scotty would answer, accurately, using official university information.
Let's show you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2 (Problem) ~45 seconds
"The problem comes from three places.
First, CMU-Q information is fragmented. Registration lives in one corner of Scotty, financial aid somewhere else, StuCo on another page entirely. There's no unified place to ask a question.
Second, generic AI tools like ChatGPT don't know CMU-Q specifics. We tested it — it gave us the wrong registration deadlines and invented an advisor's email address.
Third, students need answers at night before deadlines when offices are closed.
We built Tartan Scotty to solve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3 (Solution) ~45 seconds
"Tartan Scotty has four modes, each designed for a different student need.
Q&amp;A mode is the core — ask any factual question about CMU-Q and get an answer backed by official university documents.
Campus Guide mode helps students navigate the physical campus — where is this office, which building is that lab in.
Chat mode is a more casual companion for general questions.
And Tutor mode is for academic help — it guides you toward the answer rather than just giving it to you.
All four modes go through the same underlying AI pipeline, which we'll explain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4 (Live Demo) ~3 minutes
[Switch to the running app before clicking through]
STEP 01 — Typing:
"Let's start with a simple typed question."
→ Open app → Q&amp;A mode → Type "How do I register for classes?"
→ "Scotty pulls the answer from CMU-Q's official registration page — no hallucination, just what's actually on Scotty."
STEP 02 — Voice:
"Now watch what happens when I use voice."
→ Click the mic → Speak: "Tell me about financial aid"
→ Scotty transcribes, sends automatically, then reads the answer aloud
→ "Fully hands-free — just like talking to a person."
STEP 03 — Typo tolerance:
"Students type fast and make mistakes. Watch this."
→ Type "majros" → Scotty answers about degree programs
→ Type "registartion" → Scotty still finds the registration page
→ "Under the hood, Scotty corrects typos using edit-distance fuzzy matching."
STEP 04 — Tutor mode:
→ Switch to Tutor → Ask "Can you help me understand what cross-registration is?"
→ "Notice Scotty guides rather than just answers — it's designed for learning, not just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5 (RAG Pipeline) ~1 minute
"The core technology is RAG — Retrieval-Augmented Generation. Here's the pipeline:
The student sends a question. Before anything else, we fuzzy-correct typos so 'majros' becomes 'majors'.
Then we embed the query using a transformer model — sentence-transformers all-MiniLM-L6-v2. This converts the question into a 384-dimensional vector.
We pre-embedded all 188 knowledge base chunks at startup. We compute cosine similarity between the query vector and every chunk, and retrieve the closest ones.
Those retrieved chunks are injected into the LLM's system prompt. The LLM generates an answer using only what we gave it — it literally can't hallucinate facts it hasn't been shown.
That's the key insight of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6 (Emerging Tech) ~1 minute
"Let's look at the three emerging technology components in depth.
The embedding layer is what makes Scotty smart. We use a transformer model that converts text to 384-dimensional vectors — this means 'how do I register' and 'enrollment process' end up near each other in vector space, even though they share no words.
The cosine similarity retrieval is how we find the right chunks. We compare the angle between the query vector and every pre-computed document vector. The closest ones get retrieved.
And the fuzzy correction layer handles the human factor — typos, voice errors, abbreviations. Before any embedding happens, we correct the query so 'certifcate' becomes 'certificate' and the retrieval works correctly.
Together these make Scotty robust in a way simple keyword search never could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7 (Architecture) ~45 seconds
"The architecture is a classic client-server split.
On the left — the React frontend. It handles the four mode tabs, the chat interface, conversation history, and the new voice features: the Web Speech API for text-to-speech and SpeechRecognition for mic input.
On the right — the Express backend. This is where the intelligence lives. The knowledge base module handles chunking, embedding, cosine similarity, and fuzzy correction. The server module handles routing and builds the system prompts with retrieved context injected.
The two communicate over HTTP. Everything runs locally — no external databases, no cloud infrastructure needed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8 (Testing) ~1 minute
"We wrote 35 tests across three layers: unit tests for the knowledge base retrieval logic, integration tests for the API routes, and component tests for the React frontend. All 35 pass.
But more importantly — tests drove iteration.
After iteration 1, we discovered keyword matching failed when students phrased things differently. That's what pushed us to real semantic embeddings.
After iteration 2, we found duplicate lines in some KB files were skewing scores. We built an automated cleaning pipeline.
After iteration 3, we caught server crashes when API keys weren't configured. We added a graceful fallback chain.
This isn't a prototype that worked first try — it's one that got better because we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9 (Limitations) ~45 seconds
"We want to be honest about what the prototype doesn't do yet.
Embeddings are in-memory — if the server restarts, we recompute everything. At scale that's a problem. The fix is a persistent vector database like ChromaDB.
The knowledge base is static — we manually added the 16 files. A real deployment needs a scraper watching Scotty for changes.
There's no authentication, so conversation history lives in the browser only.
And the LiveAvatar integration we planned was cut because the API was retired by HeyGen mid-project. We've documented this as a known limitation.
The good news is all of these have clear solutions — they're engineering problems, not fundamental blockers."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10 (Summary) ~30 seconds
"To summarise what we've built and shown today:
A functional prototype with four modes, running live — not a mockup.
Deep integration of three emerging technologies: transformer embeddings, vector similarity search, and fuzzy NLP correction.
An AI that grounds its answers in official data and admits when it doesn't know something.
Evidence that we tested, found problems, and iterated.
And most importantly — a tool that solves a real problem for real CMU-Q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11 (Q&amp;A)
"That's Tartan Scotty. We're happy to take questions — on the technology, the design decisions, or anything you'd like to dig into.
[Suggested Q&amp;A talking points if asked:]
- 'Why RAG instead of fine-tuning?' → Fine-tuning bakes knowledge in at training time; RAG lets us update the KB without retraining. Much more practical for a university.
- 'How accurate is it?' → As accurate as the KB. If the CMU-Q page says X, Scotty says X. It won't make things up.
- 'What happens if someone asks something off-topic?' → Scotty says it doesn't have that information and directs the student to scotty.qatar.cmu.edu.
- 'Could this scale to all CMU-Q students?' → With a vector DB and cloud hosting, yes. Those are the two main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41230"/>
          </a:solidFill>
          <a:ln w="12700">
            <a:solidFill>
              <a:srgbClr val="C41230"/>
            </a:solidFill>
            <a:prstDash val="solid"/>
          </a:ln>
        </p:spPr>
      </p:sp>
      <p:sp>
        <p:nvSpPr>
          <p:cNvPr id="3" name="Text 1"/>
          <p:cNvSpPr/>
          <p:nvPr/>
        </p:nvSpPr>
        <p:spPr>
          <a:xfrm>
            <a:off x="548640" y="1188720"/>
            <a:ext cx="8229600" cy="1005840"/>
          </a:xfrm>
          <a:prstGeom prst="rect">
            <a:avLst/>
          </a:prstGeom>
          <a:noFill/>
          <a:ln/>
        </p:spPr>
        <p:txBody>
          <a:bodyPr wrap="square" lIns="0" tIns="0" rIns="0" bIns="0" rtlCol="0" anchor="ctr"/>
          <a:lstStyle/>
          <a:p>
            <a:pPr indent="0" marL="0">
              <a:buNone/>
            </a:pPr>
            <a:r>
              <a:rPr lang="en-US" sz="5400" b="1" spc="300" kern="0" dirty="0">
                <a:solidFill>
                  <a:srgbClr val="FFFFFF"/>
                </a:solidFill>
                <a:latin typeface="Georgia" pitchFamily="34" charset="0"/>
                <a:ea typeface="Georgia" pitchFamily="34" charset="-122"/>
                <a:cs typeface="Georgia" pitchFamily="34" charset="-120"/>
              </a:rPr>
              <a:t>TARTAN SCOTTY</a:t>
            </a:r>
            <a:endParaRPr lang="en-US" sz="5400" dirty="0"/>
          </a:p>
        </p:txBody>
      </p:sp>
      <p:sp>
        <p:nvSpPr>
          <p:cNvPr id="4" name="Text 2"/>
          <p:cNvSpPr/>
          <p:nvPr/>
        </p:nvSpPr>
        <p:spPr>
          <a:xfrm>
            <a:off x="548640" y="2240280"/>
            <a:ext cx="7772400" cy="502920"/>
          </a:xfrm>
          <a:prstGeom prst="rect">
            <a:avLst/>
          </a:prstGeom>
          <a:noFill/>
          <a:ln/>
        </p:spPr>
        <p:txBody>
          <a:bodyPr wrap="square" lIns="0" tIns="0" rIns="0" bIns="0" rtlCol="0" anchor="ctr"/>
          <a:lstStyle/>
          <a:p>
            <a:pPr indent="0" marL="0">
              <a:buNone/>
            </a:pPr>
            <a:r>
              <a:rPr lang="en-US" sz="2000" i="1" dirty="0">
                <a:solidFill>
                  <a:srgbClr val="E8374F"/>
                </a:solidFill>
                <a:latin typeface="Calibri" pitchFamily="34" charset="0"/>
                <a:ea typeface="Calibri" pitchFamily="34" charset="-122"/>
                <a:cs typeface="Calibri" pitchFamily="34" charset="-120"/>
              </a:rPr>
              <a:t>AI-Powered Student Assistant for CMU-Q</a:t>
            </a:r>
            <a:endParaRPr lang="en-US" sz="2000" dirty="0"/>
          </a:p>
        </p:txBody>
      </p:sp>
      <p:sp>
        <p:nvSpPr>
          <p:cNvPr id="5" name="Shape 3"/>
          <p:cNvSpPr/>
          <p:nvPr/>
        </p:nvSpPr>
        <p:spPr>
          <a:xfrm>
            <a:off x="548640" y="2834640"/>
            <a:ext cx="5029200" cy="27432"/>
          </a:xfrm>
          <a:prstGeom prst="rect">
            <a:avLst/>
          </a:prstGeom>
          <a:solidFill>
            <a:srgbClr val="FFFFFF">
              <a:alpha val="40000"/>
            </a:srgbClr>
          </a:solidFill>
          <a:ln w="12700">
            <a:solidFill>
              <a:srgbClr val="FFFFFF">
                <a:alpha val="40000"/>
              </a:srgbClr>
            </a:solidFill>
            <a:prstDash val="solid"/>
          </a:ln>
        </p:spPr>
      </p:sp>
      <p:sp>
        <p:nvSpPr>
          <p:cNvPr id="6" name="Text 4"/>
          <p:cNvSpPr/>
          <p:nvPr/>
        </p:nvSpPr>
        <p:spPr>
          <a:xfrm>
            <a:off x="548640" y="2971800"/>
            <a:ext cx="8229600" cy="347472"/>
          </a:xfrm>
          <a:prstGeom prst="rect">
            <a:avLst/>
          </a:prstGeom>
          <a:noFill/>
          <a:ln/>
        </p:spPr>
        <p:txBody>
          <a:bodyPr wrap="square" lIns="0" tIns="0" rIns="0" bIns="0" rtlCol="0" anchor="ctr"/>
          <a:lstStyle/>
          <a:p>
            <a:pPr indent="0" marL="0">
              <a:buNone/>
            </a:pPr>
            <a:r>
              <a:rPr lang="en-US" sz="1300" dirty="0">
                <a:solidFill>
                  <a:srgbClr val="FFFFFF">
                    <a:alpha val="80000"/>
                  </a:srgbClr>
                </a:solidFill>
                <a:latin typeface="Calibri" pitchFamily="34" charset="0"/>
                <a:ea typeface="Calibri" pitchFamily="34" charset="-122"/>
                <a:cs typeface="Calibri" pitchFamily="34" charset="-120"/>
              </a:rPr>
              <a:t>Assignment 2: Prototype Development — Emerging Technology Implementation</a:t>
            </a:r>
            <a:endParaRPr lang="en-US" sz="1300" dirty="0"/>
          </a:p>
        </p:txBody>
      </p:sp>
      <p:sp>
        <p:nvSpPr>
          <p:cNvPr id="7" name="Text 5"/>
          <p:cNvSpPr/>
          <p:nvPr/>
        </p:nvSpPr>
        <p:spPr>
          <a:xfrm>
            <a:off x="548640" y="3337560"/>
            <a:ext cx="8229600" cy="320040"/>
          </a:xfrm>
          <a:prstGeom prst="rect">
            <a:avLst/>
          </a:prstGeom>
          <a:noFill/>
          <a:ln/>
        </p:spPr>
        <p:txBody>
          <a:bodyPr wrap="square" lIns="0" tIns="0" rIns="0" bIns="0" rtlCol="0" anchor="ctr"/>
          <a:lstStyle/>
          <a:p>
            <a:pPr indent="0" marL="0">
              <a:buNone/>
            </a:pPr>
            <a:r>
              <a:rPr lang="en-US" sz="1200" dirty="0">
                <a:solidFill>
                  <a:srgbClr val="FFFFFF">
                    <a:alpha val="65000"/>
                  </a:srgbClr>
                </a:solidFill>
                <a:latin typeface="Calibri" pitchFamily="34" charset="0"/>
                <a:ea typeface="Calibri" pitchFamily="34" charset="-122"/>
                <a:cs typeface="Calibri" pitchFamily="34" charset="-120"/>
              </a:rPr>
              <a:t>Carnegie Mellon University in Qatar  |  Emerging Technology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The Problem</a:t>
            </a:r>
            <a:endParaRPr lang="en-US" sz="2200" dirty="0"/>
          </a:p>
        </p:txBody>
      </p:sp>
      <p:sp>
        <p:nvSpPr>
          <p:cNvPr id="4" name="Text 2"/>
          <p:cNvSpPr/>
          <p:nvPr/>
        </p:nvSpPr>
        <p:spPr>
          <a:xfrm>
            <a:off x="594360" y="777240"/>
            <a:ext cx="8046720" cy="347472"/>
          </a:xfrm>
          <a:prstGeom prst="rect">
            <a:avLst/>
          </a:prstGeom>
          <a:noFill/>
          <a:ln/>
        </p:spPr>
        <p:txBody>
          <a:bodyPr wrap="square" lIns="0" tIns="0" rIns="0" bIns="0" rtlCol="0" anchor="ctr"/>
          <a:lstStyle/>
          <a:p>
            <a:pPr indent="0" marL="0">
              <a:buNone/>
            </a:pPr>
            <a:r>
              <a:rPr lang="en-US" sz="1500" i="1" dirty="0">
                <a:solidFill>
                  <a:srgbClr val="444444"/>
                </a:solidFill>
                <a:latin typeface="Calibri" pitchFamily="34" charset="0"/>
                <a:ea typeface="Calibri" pitchFamily="34" charset="-122"/>
                <a:cs typeface="Calibri" pitchFamily="34" charset="-120"/>
              </a:rPr>
              <a:t>Students struggle to find accurate CMU-Q information quickly.</a:t>
            </a:r>
            <a:endParaRPr lang="en-US" sz="1500" dirty="0"/>
          </a:p>
        </p:txBody>
      </p:sp>
      <p:sp>
        <p:nvSpPr>
          <p:cNvPr id="5" name="Shape 3"/>
          <p:cNvSpPr/>
          <p:nvPr/>
        </p:nvSpPr>
        <p:spPr>
          <a:xfrm>
            <a:off x="411480" y="1280160"/>
            <a:ext cx="83210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6" name="Shape 4"/>
          <p:cNvSpPr/>
          <p:nvPr/>
        </p:nvSpPr>
        <p:spPr>
          <a:xfrm>
            <a:off x="411480" y="1280160"/>
            <a:ext cx="64008" cy="1005840"/>
          </a:xfrm>
          <a:prstGeom prst="rect">
            <a:avLst/>
          </a:prstGeom>
          <a:solidFill>
            <a:srgbClr val="C41230"/>
          </a:solidFill>
          <a:ln w="12700">
            <a:solidFill>
              <a:srgbClr val="C41230"/>
            </a:solidFill>
            <a:prstDash val="solid"/>
          </a:ln>
        </p:spPr>
      </p:sp>
      <p:sp>
        <p:nvSpPr>
          <p:cNvPr id="7" name="Text 5"/>
          <p:cNvSpPr/>
          <p:nvPr/>
        </p:nvSpPr>
        <p:spPr>
          <a:xfrm>
            <a:off x="685800" y="1353312"/>
            <a:ext cx="7772400" cy="347472"/>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Information is scattered</a:t>
            </a:r>
            <a:endParaRPr lang="en-US" sz="1500" dirty="0"/>
          </a:p>
        </p:txBody>
      </p:sp>
      <p:sp>
        <p:nvSpPr>
          <p:cNvPr id="8" name="Text 6"/>
          <p:cNvSpPr/>
          <p:nvPr/>
        </p:nvSpPr>
        <p:spPr>
          <a:xfrm>
            <a:off x="685800" y="1719072"/>
            <a:ext cx="7772400" cy="45720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Registration, financial aid, StuCo, academic calendar — all on different pages of Scotty with no unified search.</a:t>
            </a:r>
            <a:endParaRPr lang="en-US" sz="1300" dirty="0"/>
          </a:p>
        </p:txBody>
      </p:sp>
      <p:sp>
        <p:nvSpPr>
          <p:cNvPr id="9" name="Shape 7"/>
          <p:cNvSpPr/>
          <p:nvPr/>
        </p:nvSpPr>
        <p:spPr>
          <a:xfrm>
            <a:off x="411480" y="2468880"/>
            <a:ext cx="83210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0" name="Shape 8"/>
          <p:cNvSpPr/>
          <p:nvPr/>
        </p:nvSpPr>
        <p:spPr>
          <a:xfrm>
            <a:off x="411480" y="2468880"/>
            <a:ext cx="64008" cy="1005840"/>
          </a:xfrm>
          <a:prstGeom prst="rect">
            <a:avLst/>
          </a:prstGeom>
          <a:solidFill>
            <a:srgbClr val="C41230"/>
          </a:solidFill>
          <a:ln w="12700">
            <a:solidFill>
              <a:srgbClr val="C41230"/>
            </a:solidFill>
            <a:prstDash val="solid"/>
          </a:ln>
        </p:spPr>
      </p:sp>
      <p:sp>
        <p:nvSpPr>
          <p:cNvPr id="11" name="Text 9"/>
          <p:cNvSpPr/>
          <p:nvPr/>
        </p:nvSpPr>
        <p:spPr>
          <a:xfrm>
            <a:off x="685800" y="2542032"/>
            <a:ext cx="7772400" cy="347472"/>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Generic AI gives wrong answers</a:t>
            </a:r>
            <a:endParaRPr lang="en-US" sz="1500" dirty="0"/>
          </a:p>
        </p:txBody>
      </p:sp>
      <p:sp>
        <p:nvSpPr>
          <p:cNvPr id="12" name="Text 10"/>
          <p:cNvSpPr/>
          <p:nvPr/>
        </p:nvSpPr>
        <p:spPr>
          <a:xfrm>
            <a:off x="685800" y="2907792"/>
            <a:ext cx="7772400" cy="45720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ChatGPT doesn't know CMU-Q policies. Students get hallucinated deadlines, wrong emails, and invented office names.</a:t>
            </a:r>
            <a:endParaRPr lang="en-US" sz="1300" dirty="0"/>
          </a:p>
        </p:txBody>
      </p:sp>
      <p:sp>
        <p:nvSpPr>
          <p:cNvPr id="13" name="Shape 11"/>
          <p:cNvSpPr/>
          <p:nvPr/>
        </p:nvSpPr>
        <p:spPr>
          <a:xfrm>
            <a:off x="411480" y="3657600"/>
            <a:ext cx="83210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4" name="Shape 12"/>
          <p:cNvSpPr/>
          <p:nvPr/>
        </p:nvSpPr>
        <p:spPr>
          <a:xfrm>
            <a:off x="411480" y="3657600"/>
            <a:ext cx="64008" cy="1005840"/>
          </a:xfrm>
          <a:prstGeom prst="rect">
            <a:avLst/>
          </a:prstGeom>
          <a:solidFill>
            <a:srgbClr val="C41230"/>
          </a:solidFill>
          <a:ln w="12700">
            <a:solidFill>
              <a:srgbClr val="C41230"/>
            </a:solidFill>
            <a:prstDash val="solid"/>
          </a:ln>
        </p:spPr>
      </p:sp>
      <p:sp>
        <p:nvSpPr>
          <p:cNvPr id="15" name="Text 13"/>
          <p:cNvSpPr/>
          <p:nvPr/>
        </p:nvSpPr>
        <p:spPr>
          <a:xfrm>
            <a:off x="685800" y="3730752"/>
            <a:ext cx="7772400" cy="347472"/>
          </a:xfrm>
          <a:prstGeom prst="rect">
            <a:avLst/>
          </a:prstGeom>
          <a:noFill/>
          <a:ln/>
        </p:spPr>
        <p:txBody>
          <a:bodyPr wrap="square" lIns="0" tIns="0" rIns="0" bIns="0" rtlCol="0" anchor="ctr"/>
          <a:lstStyle/>
          <a:p>
            <a:pPr indent="0" marL="0">
              <a:buNone/>
            </a:pPr>
            <a:r>
              <a:rPr lang="en-US" sz="1500" b="1" dirty="0">
                <a:solidFill>
                  <a:srgbClr val="1A1A1A"/>
                </a:solidFill>
                <a:latin typeface="Georgia" pitchFamily="34" charset="0"/>
                <a:ea typeface="Georgia" pitchFamily="34" charset="-122"/>
                <a:cs typeface="Georgia" pitchFamily="34" charset="-120"/>
              </a:rPr>
              <a:t>Office hours aren't always accessible</a:t>
            </a:r>
            <a:endParaRPr lang="en-US" sz="1500" dirty="0"/>
          </a:p>
        </p:txBody>
      </p:sp>
      <p:sp>
        <p:nvSpPr>
          <p:cNvPr id="16" name="Text 14"/>
          <p:cNvSpPr/>
          <p:nvPr/>
        </p:nvSpPr>
        <p:spPr>
          <a:xfrm>
            <a:off x="685800" y="4096512"/>
            <a:ext cx="7772400" cy="45720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Students need answers at 11pm before a deadline. Offices are closed. There's no 24/7 reliable option.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Our Solution</a:t>
            </a:r>
            <a:endParaRPr lang="en-US" sz="2200" dirty="0"/>
          </a:p>
        </p:txBody>
      </p:sp>
      <p:sp>
        <p:nvSpPr>
          <p:cNvPr id="4" name="Text 2"/>
          <p:cNvSpPr/>
          <p:nvPr/>
        </p:nvSpPr>
        <p:spPr>
          <a:xfrm>
            <a:off x="594360" y="777240"/>
            <a:ext cx="8046720" cy="347472"/>
          </a:xfrm>
          <a:prstGeom prst="rect">
            <a:avLst/>
          </a:prstGeom>
          <a:noFill/>
          <a:ln/>
        </p:spPr>
        <p:txBody>
          <a:bodyPr wrap="square" lIns="0" tIns="0" rIns="0" bIns="0" rtlCol="0" anchor="ctr"/>
          <a:lstStyle/>
          <a:p>
            <a:pPr indent="0" marL="0">
              <a:buNone/>
            </a:pPr>
            <a:r>
              <a:rPr lang="en-US" sz="1400" i="1" dirty="0">
                <a:solidFill>
                  <a:srgbClr val="444444"/>
                </a:solidFill>
                <a:latin typeface="Calibri" pitchFamily="34" charset="0"/>
                <a:ea typeface="Calibri" pitchFamily="34" charset="-122"/>
                <a:cs typeface="Calibri" pitchFamily="34" charset="-120"/>
              </a:rPr>
              <a:t>One conversational interface. Four specialised modes. All grounded in official CMU-Q data.</a:t>
            </a:r>
            <a:endParaRPr lang="en-US" sz="1400" dirty="0"/>
          </a:p>
        </p:txBody>
      </p:sp>
      <p:sp>
        <p:nvSpPr>
          <p:cNvPr id="5" name="Shape 3"/>
          <p:cNvSpPr/>
          <p:nvPr/>
        </p:nvSpPr>
        <p:spPr>
          <a:xfrm>
            <a:off x="411480" y="1325880"/>
            <a:ext cx="4023360" cy="123444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6" name="Shape 4"/>
          <p:cNvSpPr/>
          <p:nvPr/>
        </p:nvSpPr>
        <p:spPr>
          <a:xfrm>
            <a:off x="411480" y="1325880"/>
            <a:ext cx="4023360" cy="91440"/>
          </a:xfrm>
          <a:prstGeom prst="rect">
            <a:avLst/>
          </a:prstGeom>
          <a:solidFill>
            <a:srgbClr val="C41230"/>
          </a:solidFill>
          <a:ln w="12700">
            <a:solidFill>
              <a:srgbClr val="C41230"/>
            </a:solidFill>
            <a:prstDash val="solid"/>
          </a:ln>
        </p:spPr>
      </p:sp>
      <p:sp>
        <p:nvSpPr>
          <p:cNvPr id="7" name="Text 5"/>
          <p:cNvSpPr/>
          <p:nvPr/>
        </p:nvSpPr>
        <p:spPr>
          <a:xfrm>
            <a:off x="576072" y="1490472"/>
            <a:ext cx="3657600" cy="347472"/>
          </a:xfrm>
          <a:prstGeom prst="rect">
            <a:avLst/>
          </a:prstGeom>
          <a:noFill/>
          <a:ln/>
        </p:spPr>
        <p:txBody>
          <a:bodyPr wrap="square" lIns="0" tIns="0" rIns="0" bIns="0" rtlCol="0" anchor="ctr"/>
          <a:lstStyle/>
          <a:p>
            <a:pPr indent="0" marL="0">
              <a:buNone/>
            </a:pPr>
            <a:r>
              <a:rPr lang="en-US" sz="1600" b="1" dirty="0">
                <a:solidFill>
                  <a:srgbClr val="C41230"/>
                </a:solidFill>
                <a:latin typeface="Georgia" pitchFamily="34" charset="0"/>
                <a:ea typeface="Georgia" pitchFamily="34" charset="-122"/>
                <a:cs typeface="Georgia" pitchFamily="34" charset="-120"/>
              </a:rPr>
              <a:t>Q&amp;A Mode</a:t>
            </a:r>
            <a:endParaRPr lang="en-US" sz="1600" dirty="0"/>
          </a:p>
        </p:txBody>
      </p:sp>
      <p:sp>
        <p:nvSpPr>
          <p:cNvPr id="8" name="Text 6"/>
          <p:cNvSpPr/>
          <p:nvPr/>
        </p:nvSpPr>
        <p:spPr>
          <a:xfrm>
            <a:off x="576072" y="1856232"/>
            <a:ext cx="3657600" cy="5943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Answers factual questions about registration, policies, scholarships, minors, and forms.</a:t>
            </a:r>
            <a:endParaRPr lang="en-US" sz="1200" dirty="0"/>
          </a:p>
        </p:txBody>
      </p:sp>
      <p:sp>
        <p:nvSpPr>
          <p:cNvPr id="9" name="Shape 7"/>
          <p:cNvSpPr/>
          <p:nvPr/>
        </p:nvSpPr>
        <p:spPr>
          <a:xfrm>
            <a:off x="4663440" y="1325880"/>
            <a:ext cx="4023360" cy="123444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0" name="Shape 8"/>
          <p:cNvSpPr/>
          <p:nvPr/>
        </p:nvSpPr>
        <p:spPr>
          <a:xfrm>
            <a:off x="4663440" y="1325880"/>
            <a:ext cx="4023360" cy="91440"/>
          </a:xfrm>
          <a:prstGeom prst="rect">
            <a:avLst/>
          </a:prstGeom>
          <a:solidFill>
            <a:srgbClr val="1565C0"/>
          </a:solidFill>
          <a:ln w="12700">
            <a:solidFill>
              <a:srgbClr val="1565C0"/>
            </a:solidFill>
            <a:prstDash val="solid"/>
          </a:ln>
        </p:spPr>
      </p:sp>
      <p:sp>
        <p:nvSpPr>
          <p:cNvPr id="11" name="Text 9"/>
          <p:cNvSpPr/>
          <p:nvPr/>
        </p:nvSpPr>
        <p:spPr>
          <a:xfrm>
            <a:off x="4828032" y="1490472"/>
            <a:ext cx="3657600" cy="347472"/>
          </a:xfrm>
          <a:prstGeom prst="rect">
            <a:avLst/>
          </a:prstGeom>
          <a:noFill/>
          <a:ln/>
        </p:spPr>
        <p:txBody>
          <a:bodyPr wrap="square" lIns="0" tIns="0" rIns="0" bIns="0" rtlCol="0" anchor="ctr"/>
          <a:lstStyle/>
          <a:p>
            <a:pPr indent="0" marL="0">
              <a:buNone/>
            </a:pPr>
            <a:r>
              <a:rPr lang="en-US" sz="1600" b="1" dirty="0">
                <a:solidFill>
                  <a:srgbClr val="1565C0"/>
                </a:solidFill>
                <a:latin typeface="Georgia" pitchFamily="34" charset="0"/>
                <a:ea typeface="Georgia" pitchFamily="34" charset="-122"/>
                <a:cs typeface="Georgia" pitchFamily="34" charset="-120"/>
              </a:rPr>
              <a:t>Campus Guide</a:t>
            </a:r>
            <a:endParaRPr lang="en-US" sz="1600" dirty="0"/>
          </a:p>
        </p:txBody>
      </p:sp>
      <p:sp>
        <p:nvSpPr>
          <p:cNvPr id="12" name="Text 10"/>
          <p:cNvSpPr/>
          <p:nvPr/>
        </p:nvSpPr>
        <p:spPr>
          <a:xfrm>
            <a:off x="4828032" y="1856232"/>
            <a:ext cx="3657600" cy="5943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Interactive map navigator — find rooms, offices, and facilities on campus.</a:t>
            </a:r>
            <a:endParaRPr lang="en-US" sz="1200" dirty="0"/>
          </a:p>
        </p:txBody>
      </p:sp>
      <p:sp>
        <p:nvSpPr>
          <p:cNvPr id="13" name="Shape 11"/>
          <p:cNvSpPr/>
          <p:nvPr/>
        </p:nvSpPr>
        <p:spPr>
          <a:xfrm>
            <a:off x="411480" y="2743200"/>
            <a:ext cx="4023360" cy="123444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4" name="Shape 12"/>
          <p:cNvSpPr/>
          <p:nvPr/>
        </p:nvSpPr>
        <p:spPr>
          <a:xfrm>
            <a:off x="411480" y="2743200"/>
            <a:ext cx="4023360" cy="91440"/>
          </a:xfrm>
          <a:prstGeom prst="rect">
            <a:avLst/>
          </a:prstGeom>
          <a:solidFill>
            <a:srgbClr val="2E7D32"/>
          </a:solidFill>
          <a:ln w="12700">
            <a:solidFill>
              <a:srgbClr val="2E7D32"/>
            </a:solidFill>
            <a:prstDash val="solid"/>
          </a:ln>
        </p:spPr>
      </p:sp>
      <p:sp>
        <p:nvSpPr>
          <p:cNvPr id="15" name="Text 13"/>
          <p:cNvSpPr/>
          <p:nvPr/>
        </p:nvSpPr>
        <p:spPr>
          <a:xfrm>
            <a:off x="576072" y="2907792"/>
            <a:ext cx="3657600" cy="347472"/>
          </a:xfrm>
          <a:prstGeom prst="rect">
            <a:avLst/>
          </a:prstGeom>
          <a:noFill/>
          <a:ln/>
        </p:spPr>
        <p:txBody>
          <a:bodyPr wrap="square" lIns="0" tIns="0" rIns="0" bIns="0" rtlCol="0" anchor="ctr"/>
          <a:lstStyle/>
          <a:p>
            <a:pPr indent="0" marL="0">
              <a:buNone/>
            </a:pPr>
            <a:r>
              <a:rPr lang="en-US" sz="1600" b="1" dirty="0">
                <a:solidFill>
                  <a:srgbClr val="2E7D32"/>
                </a:solidFill>
                <a:latin typeface="Georgia" pitchFamily="34" charset="0"/>
                <a:ea typeface="Georgia" pitchFamily="34" charset="-122"/>
                <a:cs typeface="Georgia" pitchFamily="34" charset="-120"/>
              </a:rPr>
              <a:t>Chat Mode</a:t>
            </a:r>
            <a:endParaRPr lang="en-US" sz="1600" dirty="0"/>
          </a:p>
        </p:txBody>
      </p:sp>
      <p:sp>
        <p:nvSpPr>
          <p:cNvPr id="16" name="Text 14"/>
          <p:cNvSpPr/>
          <p:nvPr/>
        </p:nvSpPr>
        <p:spPr>
          <a:xfrm>
            <a:off x="576072" y="3273552"/>
            <a:ext cx="3657600" cy="5943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Friendly conversational companion for general student questions.</a:t>
            </a:r>
            <a:endParaRPr lang="en-US" sz="1200" dirty="0"/>
          </a:p>
        </p:txBody>
      </p:sp>
      <p:sp>
        <p:nvSpPr>
          <p:cNvPr id="17" name="Shape 15"/>
          <p:cNvSpPr/>
          <p:nvPr/>
        </p:nvSpPr>
        <p:spPr>
          <a:xfrm>
            <a:off x="4663440" y="2743200"/>
            <a:ext cx="4023360" cy="123444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8" name="Shape 16"/>
          <p:cNvSpPr/>
          <p:nvPr/>
        </p:nvSpPr>
        <p:spPr>
          <a:xfrm>
            <a:off x="4663440" y="2743200"/>
            <a:ext cx="4023360" cy="91440"/>
          </a:xfrm>
          <a:prstGeom prst="rect">
            <a:avLst/>
          </a:prstGeom>
          <a:solidFill>
            <a:srgbClr val="6A1B9A"/>
          </a:solidFill>
          <a:ln w="12700">
            <a:solidFill>
              <a:srgbClr val="6A1B9A"/>
            </a:solidFill>
            <a:prstDash val="solid"/>
          </a:ln>
        </p:spPr>
      </p:sp>
      <p:sp>
        <p:nvSpPr>
          <p:cNvPr id="19" name="Text 17"/>
          <p:cNvSpPr/>
          <p:nvPr/>
        </p:nvSpPr>
        <p:spPr>
          <a:xfrm>
            <a:off x="4828032" y="2907792"/>
            <a:ext cx="3657600" cy="347472"/>
          </a:xfrm>
          <a:prstGeom prst="rect">
            <a:avLst/>
          </a:prstGeom>
          <a:noFill/>
          <a:ln/>
        </p:spPr>
        <p:txBody>
          <a:bodyPr wrap="square" lIns="0" tIns="0" rIns="0" bIns="0" rtlCol="0" anchor="ctr"/>
          <a:lstStyle/>
          <a:p>
            <a:pPr indent="0" marL="0">
              <a:buNone/>
            </a:pPr>
            <a:r>
              <a:rPr lang="en-US" sz="1600" b="1" dirty="0">
                <a:solidFill>
                  <a:srgbClr val="6A1B9A"/>
                </a:solidFill>
                <a:latin typeface="Georgia" pitchFamily="34" charset="0"/>
                <a:ea typeface="Georgia" pitchFamily="34" charset="-122"/>
                <a:cs typeface="Georgia" pitchFamily="34" charset="-120"/>
              </a:rPr>
              <a:t>Tutor Mode</a:t>
            </a:r>
            <a:endParaRPr lang="en-US" sz="1600" dirty="0"/>
          </a:p>
        </p:txBody>
      </p:sp>
      <p:sp>
        <p:nvSpPr>
          <p:cNvPr id="20" name="Text 18"/>
          <p:cNvSpPr/>
          <p:nvPr/>
        </p:nvSpPr>
        <p:spPr>
          <a:xfrm>
            <a:off x="4828032" y="3273552"/>
            <a:ext cx="3657600" cy="59436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Academic tutor that guides students toward answers step-by-step.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3A"/>
        </a:solidFill>
      </p:bgPr>
    </p:bg>
    <p:spTree>
      <p:nvGrpSpPr>
        <p:cNvPr id="1" name=""/>
        <p:cNvGrpSpPr/>
        <p:nvPr/>
      </p:nvGrpSpPr>
      <p:grpSpPr>
        <a:xfrm>
          <a:off x="0" y="0"/>
          <a:ext cx="0" cy="0"/>
          <a:chOff x="0" y="0"/>
          <a:chExt cx="0" cy="0"/>
        </a:xfrm>
      </p:grpSpPr>
      <p:sp>
        <p:nvSpPr>
          <p:cNvPr id="2" name="Text 0"/>
          <p:cNvSpPr/>
          <p:nvPr/>
        </p:nvSpPr>
        <p:spPr>
          <a:xfrm>
            <a:off x="457200" y="548640"/>
            <a:ext cx="8229600" cy="822960"/>
          </a:xfrm>
          <a:prstGeom prst="rect">
            <a:avLst/>
          </a:prstGeom>
          <a:noFill/>
          <a:ln/>
        </p:spPr>
        <p:txBody>
          <a:bodyPr wrap="square" lIns="0" tIns="0" rIns="0" bIns="0" rtlCol="0" anchor="ctr"/>
          <a:lstStyle/>
          <a:p>
            <a:pPr algn="ctr" indent="0" marL="0">
              <a:buNone/>
            </a:pPr>
            <a:r>
              <a:rPr lang="en-US" sz="4600" b="1" spc="400" kern="0" dirty="0">
                <a:solidFill>
                  <a:srgbClr val="FFFFFF"/>
                </a:solidFill>
                <a:latin typeface="Georgia" pitchFamily="34" charset="0"/>
                <a:ea typeface="Georgia" pitchFamily="34" charset="-122"/>
                <a:cs typeface="Georgia" pitchFamily="34" charset="-120"/>
              </a:rPr>
              <a:t>LIVE DEMO</a:t>
            </a:r>
            <a:endParaRPr lang="en-US" sz="4600" dirty="0"/>
          </a:p>
        </p:txBody>
      </p:sp>
      <p:sp>
        <p:nvSpPr>
          <p:cNvPr id="3" name="Text 1"/>
          <p:cNvSpPr/>
          <p:nvPr/>
        </p:nvSpPr>
        <p:spPr>
          <a:xfrm>
            <a:off x="457200" y="1417320"/>
            <a:ext cx="8229600" cy="365760"/>
          </a:xfrm>
          <a:prstGeom prst="rect">
            <a:avLst/>
          </a:prstGeom>
          <a:noFill/>
          <a:ln/>
        </p:spPr>
        <p:txBody>
          <a:bodyPr wrap="square" lIns="0" tIns="0" rIns="0" bIns="0" rtlCol="0" anchor="ctr"/>
          <a:lstStyle/>
          <a:p>
            <a:pPr algn="ctr" indent="0" marL="0">
              <a:buNone/>
            </a:pPr>
            <a:r>
              <a:rPr lang="en-US" sz="1600" i="1" dirty="0">
                <a:solidFill>
                  <a:srgbClr val="E8374F"/>
                </a:solidFill>
                <a:latin typeface="Calibri" pitchFamily="34" charset="0"/>
                <a:ea typeface="Calibri" pitchFamily="34" charset="-122"/>
                <a:cs typeface="Calibri" pitchFamily="34" charset="-120"/>
              </a:rPr>
              <a:t>What we'll walk through</a:t>
            </a:r>
            <a:endParaRPr lang="en-US" sz="1600" dirty="0"/>
          </a:p>
        </p:txBody>
      </p:sp>
      <p:sp>
        <p:nvSpPr>
          <p:cNvPr id="4" name="Shape 2"/>
          <p:cNvSpPr/>
          <p:nvPr/>
        </p:nvSpPr>
        <p:spPr>
          <a:xfrm>
            <a:off x="457200" y="1993392"/>
            <a:ext cx="384048" cy="384048"/>
          </a:xfrm>
          <a:prstGeom prst="ellipse">
            <a:avLst/>
          </a:prstGeom>
          <a:solidFill>
            <a:srgbClr val="C41230"/>
          </a:solidFill>
          <a:ln w="12700">
            <a:solidFill>
              <a:srgbClr val="C41230"/>
            </a:solidFill>
            <a:prstDash val="solid"/>
          </a:ln>
        </p:spPr>
      </p:sp>
      <p:sp>
        <p:nvSpPr>
          <p:cNvPr id="5" name="Text 3"/>
          <p:cNvSpPr/>
          <p:nvPr/>
        </p:nvSpPr>
        <p:spPr>
          <a:xfrm>
            <a:off x="457200" y="19933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005840" y="2011680"/>
            <a:ext cx="34747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Ask a question with typing</a:t>
            </a:r>
            <a:endParaRPr lang="en-US" sz="1400" dirty="0"/>
          </a:p>
        </p:txBody>
      </p:sp>
      <p:sp>
        <p:nvSpPr>
          <p:cNvPr id="7" name="Text 5"/>
          <p:cNvSpPr/>
          <p:nvPr/>
        </p:nvSpPr>
        <p:spPr>
          <a:xfrm>
            <a:off x="4663440" y="2011680"/>
            <a:ext cx="4206240" cy="347472"/>
          </a:xfrm>
          <a:prstGeom prst="rect">
            <a:avLst/>
          </a:prstGeom>
          <a:noFill/>
          <a:ln/>
        </p:spPr>
        <p:txBody>
          <a:bodyPr wrap="square" lIns="0" tIns="0" rIns="0" bIns="0" rtlCol="0" anchor="ctr"/>
          <a:lstStyle/>
          <a:p>
            <a:pPr indent="0" marL="0">
              <a:buNone/>
            </a:pPr>
            <a:r>
              <a:rPr lang="en-US" sz="1200" dirty="0">
                <a:solidFill>
                  <a:srgbClr val="FFFFFF">
                    <a:alpha val="80000"/>
                  </a:srgbClr>
                </a:solidFill>
                <a:latin typeface="Calibri" pitchFamily="34" charset="0"/>
                <a:ea typeface="Calibri" pitchFamily="34" charset="-122"/>
                <a:cs typeface="Calibri" pitchFamily="34" charset="-120"/>
              </a:rPr>
              <a:t>"How do I register for classes?" — Scotty answers from the CMU-Q knowledge base</a:t>
            </a:r>
            <a:endParaRPr lang="en-US" sz="1200" dirty="0"/>
          </a:p>
        </p:txBody>
      </p:sp>
      <p:sp>
        <p:nvSpPr>
          <p:cNvPr id="8" name="Shape 6"/>
          <p:cNvSpPr/>
          <p:nvPr/>
        </p:nvSpPr>
        <p:spPr>
          <a:xfrm>
            <a:off x="457200" y="2423160"/>
            <a:ext cx="8229600" cy="13716"/>
          </a:xfrm>
          <a:prstGeom prst="rect">
            <a:avLst/>
          </a:prstGeom>
          <a:solidFill>
            <a:srgbClr val="FFFFFF">
              <a:alpha val="18000"/>
            </a:srgbClr>
          </a:solidFill>
          <a:ln w="12700">
            <a:solidFill>
              <a:srgbClr val="FFFFFF">
                <a:alpha val="18000"/>
              </a:srgbClr>
            </a:solidFill>
            <a:prstDash val="solid"/>
          </a:ln>
        </p:spPr>
      </p:sp>
      <p:sp>
        <p:nvSpPr>
          <p:cNvPr id="9" name="Shape 7"/>
          <p:cNvSpPr/>
          <p:nvPr/>
        </p:nvSpPr>
        <p:spPr>
          <a:xfrm>
            <a:off x="457200" y="2706624"/>
            <a:ext cx="384048" cy="384048"/>
          </a:xfrm>
          <a:prstGeom prst="ellipse">
            <a:avLst/>
          </a:prstGeom>
          <a:solidFill>
            <a:srgbClr val="C41230"/>
          </a:solidFill>
          <a:ln w="12700">
            <a:solidFill>
              <a:srgbClr val="C41230"/>
            </a:solidFill>
            <a:prstDash val="solid"/>
          </a:ln>
        </p:spPr>
      </p:sp>
      <p:sp>
        <p:nvSpPr>
          <p:cNvPr id="10" name="Text 8"/>
          <p:cNvSpPr/>
          <p:nvPr/>
        </p:nvSpPr>
        <p:spPr>
          <a:xfrm>
            <a:off x="457200" y="2706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005840" y="2724912"/>
            <a:ext cx="34747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Voice input + auto-reply</a:t>
            </a:r>
            <a:endParaRPr lang="en-US" sz="1400" dirty="0"/>
          </a:p>
        </p:txBody>
      </p:sp>
      <p:sp>
        <p:nvSpPr>
          <p:cNvPr id="12" name="Text 10"/>
          <p:cNvSpPr/>
          <p:nvPr/>
        </p:nvSpPr>
        <p:spPr>
          <a:xfrm>
            <a:off x="4663440" y="2724912"/>
            <a:ext cx="4206240" cy="347472"/>
          </a:xfrm>
          <a:prstGeom prst="rect">
            <a:avLst/>
          </a:prstGeom>
          <a:noFill/>
          <a:ln/>
        </p:spPr>
        <p:txBody>
          <a:bodyPr wrap="square" lIns="0" tIns="0" rIns="0" bIns="0" rtlCol="0" anchor="ctr"/>
          <a:lstStyle/>
          <a:p>
            <a:pPr indent="0" marL="0">
              <a:buNone/>
            </a:pPr>
            <a:r>
              <a:rPr lang="en-US" sz="1200" dirty="0">
                <a:solidFill>
                  <a:srgbClr val="FFFFFF">
                    <a:alpha val="80000"/>
                  </a:srgbClr>
                </a:solidFill>
                <a:latin typeface="Calibri" pitchFamily="34" charset="0"/>
                <a:ea typeface="Calibri" pitchFamily="34" charset="-122"/>
                <a:cs typeface="Calibri" pitchFamily="34" charset="-120"/>
              </a:rPr>
              <a:t>Click the mic, speak a question — Scotty listens and reads the answer back aloud</a:t>
            </a:r>
            <a:endParaRPr lang="en-US" sz="1200" dirty="0"/>
          </a:p>
        </p:txBody>
      </p:sp>
      <p:sp>
        <p:nvSpPr>
          <p:cNvPr id="13" name="Shape 11"/>
          <p:cNvSpPr/>
          <p:nvPr/>
        </p:nvSpPr>
        <p:spPr>
          <a:xfrm>
            <a:off x="457200" y="3136392"/>
            <a:ext cx="8229600" cy="13716"/>
          </a:xfrm>
          <a:prstGeom prst="rect">
            <a:avLst/>
          </a:prstGeom>
          <a:solidFill>
            <a:srgbClr val="FFFFFF">
              <a:alpha val="18000"/>
            </a:srgbClr>
          </a:solidFill>
          <a:ln w="12700">
            <a:solidFill>
              <a:srgbClr val="FFFFFF">
                <a:alpha val="18000"/>
              </a:srgbClr>
            </a:solidFill>
            <a:prstDash val="solid"/>
          </a:ln>
        </p:spPr>
      </p:sp>
      <p:sp>
        <p:nvSpPr>
          <p:cNvPr id="14" name="Shape 12"/>
          <p:cNvSpPr/>
          <p:nvPr/>
        </p:nvSpPr>
        <p:spPr>
          <a:xfrm>
            <a:off x="457200" y="3419856"/>
            <a:ext cx="384048" cy="384048"/>
          </a:xfrm>
          <a:prstGeom prst="ellipse">
            <a:avLst/>
          </a:prstGeom>
          <a:solidFill>
            <a:srgbClr val="C41230"/>
          </a:solidFill>
          <a:ln w="12700">
            <a:solidFill>
              <a:srgbClr val="C41230"/>
            </a:solidFill>
            <a:prstDash val="solid"/>
          </a:ln>
        </p:spPr>
      </p:sp>
      <p:sp>
        <p:nvSpPr>
          <p:cNvPr id="15" name="Text 13"/>
          <p:cNvSpPr/>
          <p:nvPr/>
        </p:nvSpPr>
        <p:spPr>
          <a:xfrm>
            <a:off x="45720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1005840" y="3438144"/>
            <a:ext cx="34747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Typo tolerance</a:t>
            </a:r>
            <a:endParaRPr lang="en-US" sz="1400" dirty="0"/>
          </a:p>
        </p:txBody>
      </p:sp>
      <p:sp>
        <p:nvSpPr>
          <p:cNvPr id="17" name="Text 15"/>
          <p:cNvSpPr/>
          <p:nvPr/>
        </p:nvSpPr>
        <p:spPr>
          <a:xfrm>
            <a:off x="4663440" y="3438144"/>
            <a:ext cx="4206240" cy="347472"/>
          </a:xfrm>
          <a:prstGeom prst="rect">
            <a:avLst/>
          </a:prstGeom>
          <a:noFill/>
          <a:ln/>
        </p:spPr>
        <p:txBody>
          <a:bodyPr wrap="square" lIns="0" tIns="0" rIns="0" bIns="0" rtlCol="0" anchor="ctr"/>
          <a:lstStyle/>
          <a:p>
            <a:pPr indent="0" marL="0">
              <a:buNone/>
            </a:pPr>
            <a:r>
              <a:rPr lang="en-US" sz="1200" dirty="0">
                <a:solidFill>
                  <a:srgbClr val="FFFFFF">
                    <a:alpha val="80000"/>
                  </a:srgbClr>
                </a:solidFill>
                <a:latin typeface="Calibri" pitchFamily="34" charset="0"/>
                <a:ea typeface="Calibri" pitchFamily="34" charset="-122"/>
                <a:cs typeface="Calibri" pitchFamily="34" charset="-120"/>
              </a:rPr>
              <a:t>Type "majros" or "registartion" — Scotty still understands and answers correctly</a:t>
            </a:r>
            <a:endParaRPr lang="en-US" sz="1200" dirty="0"/>
          </a:p>
        </p:txBody>
      </p:sp>
      <p:sp>
        <p:nvSpPr>
          <p:cNvPr id="18" name="Shape 16"/>
          <p:cNvSpPr/>
          <p:nvPr/>
        </p:nvSpPr>
        <p:spPr>
          <a:xfrm>
            <a:off x="457200" y="3849624"/>
            <a:ext cx="8229600" cy="13716"/>
          </a:xfrm>
          <a:prstGeom prst="rect">
            <a:avLst/>
          </a:prstGeom>
          <a:solidFill>
            <a:srgbClr val="FFFFFF">
              <a:alpha val="18000"/>
            </a:srgbClr>
          </a:solidFill>
          <a:ln w="12700">
            <a:solidFill>
              <a:srgbClr val="FFFFFF">
                <a:alpha val="18000"/>
              </a:srgbClr>
            </a:solidFill>
            <a:prstDash val="solid"/>
          </a:ln>
        </p:spPr>
      </p:sp>
      <p:sp>
        <p:nvSpPr>
          <p:cNvPr id="19" name="Shape 17"/>
          <p:cNvSpPr/>
          <p:nvPr/>
        </p:nvSpPr>
        <p:spPr>
          <a:xfrm>
            <a:off x="457200" y="4133088"/>
            <a:ext cx="384048" cy="384048"/>
          </a:xfrm>
          <a:prstGeom prst="ellipse">
            <a:avLst/>
          </a:prstGeom>
          <a:solidFill>
            <a:srgbClr val="C41230"/>
          </a:solidFill>
          <a:ln w="12700">
            <a:solidFill>
              <a:srgbClr val="C41230"/>
            </a:solidFill>
            <a:prstDash val="solid"/>
          </a:ln>
        </p:spPr>
      </p:sp>
      <p:sp>
        <p:nvSpPr>
          <p:cNvPr id="20" name="Text 18"/>
          <p:cNvSpPr/>
          <p:nvPr/>
        </p:nvSpPr>
        <p:spPr>
          <a:xfrm>
            <a:off x="45720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1005840" y="4151376"/>
            <a:ext cx="34747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Tutor mode</a:t>
            </a:r>
            <a:endParaRPr lang="en-US" sz="1400" dirty="0"/>
          </a:p>
        </p:txBody>
      </p:sp>
      <p:sp>
        <p:nvSpPr>
          <p:cNvPr id="22" name="Text 20"/>
          <p:cNvSpPr/>
          <p:nvPr/>
        </p:nvSpPr>
        <p:spPr>
          <a:xfrm>
            <a:off x="4663440" y="4151376"/>
            <a:ext cx="4206240" cy="347472"/>
          </a:xfrm>
          <a:prstGeom prst="rect">
            <a:avLst/>
          </a:prstGeom>
          <a:noFill/>
          <a:ln/>
        </p:spPr>
        <p:txBody>
          <a:bodyPr wrap="square" lIns="0" tIns="0" rIns="0" bIns="0" rtlCol="0" anchor="ctr"/>
          <a:lstStyle/>
          <a:p>
            <a:pPr indent="0" marL="0">
              <a:buNone/>
            </a:pPr>
            <a:r>
              <a:rPr lang="en-US" sz="1200" dirty="0">
                <a:solidFill>
                  <a:srgbClr val="FFFFFF">
                    <a:alpha val="80000"/>
                  </a:srgbClr>
                </a:solidFill>
                <a:latin typeface="Calibri" pitchFamily="34" charset="0"/>
                <a:ea typeface="Calibri" pitchFamily="34" charset="-122"/>
                <a:cs typeface="Calibri" pitchFamily="34" charset="-120"/>
              </a:rPr>
              <a:t>Switch modes and ask for help understanding a concept step-by-step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How It Works: RAG Pipeline</a:t>
            </a:r>
            <a:endParaRPr lang="en-US" sz="2200" dirty="0"/>
          </a:p>
        </p:txBody>
      </p:sp>
      <p:sp>
        <p:nvSpPr>
          <p:cNvPr id="4" name="Text 2"/>
          <p:cNvSpPr/>
          <p:nvPr/>
        </p:nvSpPr>
        <p:spPr>
          <a:xfrm>
            <a:off x="594360" y="777240"/>
            <a:ext cx="8046720" cy="320040"/>
          </a:xfrm>
          <a:prstGeom prst="rect">
            <a:avLst/>
          </a:prstGeom>
          <a:noFill/>
          <a:ln/>
        </p:spPr>
        <p:txBody>
          <a:bodyPr wrap="square" lIns="0" tIns="0" rIns="0" bIns="0" rtlCol="0" anchor="ctr"/>
          <a:lstStyle/>
          <a:p>
            <a:pPr indent="0" marL="0">
              <a:buNone/>
            </a:pPr>
            <a:r>
              <a:rPr lang="en-US" sz="1300" i="1" dirty="0">
                <a:solidFill>
                  <a:srgbClr val="444444"/>
                </a:solidFill>
                <a:latin typeface="Calibri" pitchFamily="34" charset="0"/>
                <a:ea typeface="Calibri" pitchFamily="34" charset="-122"/>
                <a:cs typeface="Calibri" pitchFamily="34" charset="-120"/>
              </a:rPr>
              <a:t>Retrieval-Augmented Generation — the core emerging technology</a:t>
            </a:r>
            <a:endParaRPr lang="en-US" sz="1300" dirty="0"/>
          </a:p>
        </p:txBody>
      </p:sp>
      <p:sp>
        <p:nvSpPr>
          <p:cNvPr id="5" name="Shape 3"/>
          <p:cNvSpPr/>
          <p:nvPr/>
        </p:nvSpPr>
        <p:spPr>
          <a:xfrm>
            <a:off x="411480" y="1234440"/>
            <a:ext cx="39776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6" name="Shape 4"/>
          <p:cNvSpPr/>
          <p:nvPr/>
        </p:nvSpPr>
        <p:spPr>
          <a:xfrm>
            <a:off x="548640" y="1508760"/>
            <a:ext cx="384048" cy="384048"/>
          </a:xfrm>
          <a:prstGeom prst="ellipse">
            <a:avLst/>
          </a:prstGeom>
          <a:solidFill>
            <a:srgbClr val="C41230"/>
          </a:solidFill>
          <a:ln w="12700">
            <a:solidFill>
              <a:srgbClr val="C41230"/>
            </a:solidFill>
            <a:prstDash val="solid"/>
          </a:ln>
        </p:spPr>
      </p:sp>
      <p:sp>
        <p:nvSpPr>
          <p:cNvPr id="7" name="Text 5"/>
          <p:cNvSpPr/>
          <p:nvPr/>
        </p:nvSpPr>
        <p:spPr>
          <a:xfrm>
            <a:off x="54864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69848" y="1325880"/>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Student types a question</a:t>
            </a:r>
            <a:endParaRPr lang="en-US" sz="1300" dirty="0"/>
          </a:p>
        </p:txBody>
      </p:sp>
      <p:sp>
        <p:nvSpPr>
          <p:cNvPr id="9" name="Text 7"/>
          <p:cNvSpPr/>
          <p:nvPr/>
        </p:nvSpPr>
        <p:spPr>
          <a:xfrm>
            <a:off x="1069848" y="1709928"/>
            <a:ext cx="3200400" cy="41148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React frontend sends to Express backend</a:t>
            </a:r>
            <a:endParaRPr lang="en-US" sz="1100" dirty="0"/>
          </a:p>
        </p:txBody>
      </p:sp>
      <p:sp>
        <p:nvSpPr>
          <p:cNvPr id="10" name="Shape 8"/>
          <p:cNvSpPr/>
          <p:nvPr/>
        </p:nvSpPr>
        <p:spPr>
          <a:xfrm>
            <a:off x="4754880" y="1234440"/>
            <a:ext cx="39776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1" name="Shape 9"/>
          <p:cNvSpPr/>
          <p:nvPr/>
        </p:nvSpPr>
        <p:spPr>
          <a:xfrm>
            <a:off x="4892040" y="1508760"/>
            <a:ext cx="384048" cy="384048"/>
          </a:xfrm>
          <a:prstGeom prst="ellipse">
            <a:avLst/>
          </a:prstGeom>
          <a:solidFill>
            <a:srgbClr val="C41230"/>
          </a:solidFill>
          <a:ln w="12700">
            <a:solidFill>
              <a:srgbClr val="C41230"/>
            </a:solidFill>
            <a:prstDash val="solid"/>
          </a:ln>
        </p:spPr>
      </p:sp>
      <p:sp>
        <p:nvSpPr>
          <p:cNvPr id="12" name="Text 10"/>
          <p:cNvSpPr/>
          <p:nvPr/>
        </p:nvSpPr>
        <p:spPr>
          <a:xfrm>
            <a:off x="489204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413248" y="1325880"/>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Query is fuzzy-corrected</a:t>
            </a:r>
            <a:endParaRPr lang="en-US" sz="1300" dirty="0"/>
          </a:p>
        </p:txBody>
      </p:sp>
      <p:sp>
        <p:nvSpPr>
          <p:cNvPr id="14" name="Text 12"/>
          <p:cNvSpPr/>
          <p:nvPr/>
        </p:nvSpPr>
        <p:spPr>
          <a:xfrm>
            <a:off x="5413248" y="1709928"/>
            <a:ext cx="3200400" cy="41148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Edit-distance fixes typos before retrieval</a:t>
            </a:r>
            <a:endParaRPr lang="en-US" sz="1100" dirty="0"/>
          </a:p>
        </p:txBody>
      </p:sp>
      <p:sp>
        <p:nvSpPr>
          <p:cNvPr id="15" name="Shape 13"/>
          <p:cNvSpPr/>
          <p:nvPr/>
        </p:nvSpPr>
        <p:spPr>
          <a:xfrm>
            <a:off x="411480" y="2404872"/>
            <a:ext cx="39776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6" name="Shape 14"/>
          <p:cNvSpPr/>
          <p:nvPr/>
        </p:nvSpPr>
        <p:spPr>
          <a:xfrm>
            <a:off x="548640" y="2679192"/>
            <a:ext cx="384048" cy="384048"/>
          </a:xfrm>
          <a:prstGeom prst="ellipse">
            <a:avLst/>
          </a:prstGeom>
          <a:solidFill>
            <a:srgbClr val="C41230"/>
          </a:solidFill>
          <a:ln w="12700">
            <a:solidFill>
              <a:srgbClr val="C41230"/>
            </a:solidFill>
            <a:prstDash val="solid"/>
          </a:ln>
        </p:spPr>
      </p:sp>
      <p:sp>
        <p:nvSpPr>
          <p:cNvPr id="17" name="Text 15"/>
          <p:cNvSpPr/>
          <p:nvPr/>
        </p:nvSpPr>
        <p:spPr>
          <a:xfrm>
            <a:off x="548640" y="2679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69848" y="2496312"/>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Query is semantically embedded</a:t>
            </a:r>
            <a:endParaRPr lang="en-US" sz="1300" dirty="0"/>
          </a:p>
        </p:txBody>
      </p:sp>
      <p:sp>
        <p:nvSpPr>
          <p:cNvPr id="19" name="Text 17"/>
          <p:cNvSpPr/>
          <p:nvPr/>
        </p:nvSpPr>
        <p:spPr>
          <a:xfrm>
            <a:off x="1069848" y="2880360"/>
            <a:ext cx="3200400" cy="41148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sentence-transformers/all-MiniLM-L6-v2 → 384-dim vector</a:t>
            </a:r>
            <a:endParaRPr lang="en-US" sz="1100" dirty="0"/>
          </a:p>
        </p:txBody>
      </p:sp>
      <p:sp>
        <p:nvSpPr>
          <p:cNvPr id="20" name="Shape 18"/>
          <p:cNvSpPr/>
          <p:nvPr/>
        </p:nvSpPr>
        <p:spPr>
          <a:xfrm>
            <a:off x="4754880" y="2404872"/>
            <a:ext cx="39776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21" name="Shape 19"/>
          <p:cNvSpPr/>
          <p:nvPr/>
        </p:nvSpPr>
        <p:spPr>
          <a:xfrm>
            <a:off x="4892040" y="2679192"/>
            <a:ext cx="384048" cy="384048"/>
          </a:xfrm>
          <a:prstGeom prst="ellipse">
            <a:avLst/>
          </a:prstGeom>
          <a:solidFill>
            <a:srgbClr val="C41230"/>
          </a:solidFill>
          <a:ln w="12700">
            <a:solidFill>
              <a:srgbClr val="C41230"/>
            </a:solidFill>
            <a:prstDash val="solid"/>
          </a:ln>
        </p:spPr>
      </p:sp>
      <p:sp>
        <p:nvSpPr>
          <p:cNvPr id="22" name="Text 20"/>
          <p:cNvSpPr/>
          <p:nvPr/>
        </p:nvSpPr>
        <p:spPr>
          <a:xfrm>
            <a:off x="4892040" y="2679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5413248" y="2496312"/>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Cosine similarity search</a:t>
            </a:r>
            <a:endParaRPr lang="en-US" sz="1300" dirty="0"/>
          </a:p>
        </p:txBody>
      </p:sp>
      <p:sp>
        <p:nvSpPr>
          <p:cNvPr id="24" name="Text 22"/>
          <p:cNvSpPr/>
          <p:nvPr/>
        </p:nvSpPr>
        <p:spPr>
          <a:xfrm>
            <a:off x="5413248" y="2880360"/>
            <a:ext cx="3200400" cy="41148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Query vector vs. 188 pre-embedded KB chunks</a:t>
            </a:r>
            <a:endParaRPr lang="en-US" sz="1100" dirty="0"/>
          </a:p>
        </p:txBody>
      </p:sp>
      <p:sp>
        <p:nvSpPr>
          <p:cNvPr id="25" name="Shape 23"/>
          <p:cNvSpPr/>
          <p:nvPr/>
        </p:nvSpPr>
        <p:spPr>
          <a:xfrm>
            <a:off x="411480" y="3575304"/>
            <a:ext cx="39776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26" name="Shape 24"/>
          <p:cNvSpPr/>
          <p:nvPr/>
        </p:nvSpPr>
        <p:spPr>
          <a:xfrm>
            <a:off x="548640" y="3849624"/>
            <a:ext cx="384048" cy="384048"/>
          </a:xfrm>
          <a:prstGeom prst="ellipse">
            <a:avLst/>
          </a:prstGeom>
          <a:solidFill>
            <a:srgbClr val="C41230"/>
          </a:solidFill>
          <a:ln w="12700">
            <a:solidFill>
              <a:srgbClr val="C41230"/>
            </a:solidFill>
            <a:prstDash val="solid"/>
          </a:ln>
        </p:spPr>
      </p:sp>
      <p:sp>
        <p:nvSpPr>
          <p:cNvPr id="27" name="Text 25"/>
          <p:cNvSpPr/>
          <p:nvPr/>
        </p:nvSpPr>
        <p:spPr>
          <a:xfrm>
            <a:off x="548640" y="3849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1069848" y="366674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Top documents retrieved</a:t>
            </a:r>
            <a:endParaRPr lang="en-US" sz="1300" dirty="0"/>
          </a:p>
        </p:txBody>
      </p:sp>
      <p:sp>
        <p:nvSpPr>
          <p:cNvPr id="29" name="Text 27"/>
          <p:cNvSpPr/>
          <p:nvPr/>
        </p:nvSpPr>
        <p:spPr>
          <a:xfrm>
            <a:off x="1069848" y="4050792"/>
            <a:ext cx="3200400" cy="41148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Most relevant CMU-Q knowledge base excerpts selected</a:t>
            </a:r>
            <a:endParaRPr lang="en-US" sz="1100" dirty="0"/>
          </a:p>
        </p:txBody>
      </p:sp>
      <p:sp>
        <p:nvSpPr>
          <p:cNvPr id="30" name="Shape 28"/>
          <p:cNvSpPr/>
          <p:nvPr/>
        </p:nvSpPr>
        <p:spPr>
          <a:xfrm>
            <a:off x="4754880" y="3575304"/>
            <a:ext cx="3977640" cy="10058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31" name="Shape 29"/>
          <p:cNvSpPr/>
          <p:nvPr/>
        </p:nvSpPr>
        <p:spPr>
          <a:xfrm>
            <a:off x="4892040" y="3849624"/>
            <a:ext cx="384048" cy="384048"/>
          </a:xfrm>
          <a:prstGeom prst="ellipse">
            <a:avLst/>
          </a:prstGeom>
          <a:solidFill>
            <a:srgbClr val="C41230"/>
          </a:solidFill>
          <a:ln w="12700">
            <a:solidFill>
              <a:srgbClr val="C41230"/>
            </a:solidFill>
            <a:prstDash val="solid"/>
          </a:ln>
        </p:spPr>
      </p:sp>
      <p:sp>
        <p:nvSpPr>
          <p:cNvPr id="32" name="Text 30"/>
          <p:cNvSpPr/>
          <p:nvPr/>
        </p:nvSpPr>
        <p:spPr>
          <a:xfrm>
            <a:off x="4892040" y="3849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5413248" y="3666744"/>
            <a:ext cx="3200400" cy="36576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LLM generates grounded answer</a:t>
            </a:r>
            <a:endParaRPr lang="en-US" sz="1300" dirty="0"/>
          </a:p>
        </p:txBody>
      </p:sp>
      <p:sp>
        <p:nvSpPr>
          <p:cNvPr id="34" name="Text 32"/>
          <p:cNvSpPr/>
          <p:nvPr/>
        </p:nvSpPr>
        <p:spPr>
          <a:xfrm>
            <a:off x="5413248" y="4050792"/>
            <a:ext cx="3200400" cy="41148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Context injected into system prompt; hallucination blocked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Emerging Technology — Deep Integration</a:t>
            </a:r>
            <a:endParaRPr lang="en-US" sz="2200" dirty="0"/>
          </a:p>
        </p:txBody>
      </p:sp>
      <p:sp>
        <p:nvSpPr>
          <p:cNvPr id="4" name="Shape 2"/>
          <p:cNvSpPr/>
          <p:nvPr/>
        </p:nvSpPr>
        <p:spPr>
          <a:xfrm>
            <a:off x="411480" y="914400"/>
            <a:ext cx="2743200" cy="393192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5" name="Shape 3"/>
          <p:cNvSpPr/>
          <p:nvPr/>
        </p:nvSpPr>
        <p:spPr>
          <a:xfrm>
            <a:off x="411480" y="914400"/>
            <a:ext cx="2743200" cy="109728"/>
          </a:xfrm>
          <a:prstGeom prst="rect">
            <a:avLst/>
          </a:prstGeom>
          <a:solidFill>
            <a:srgbClr val="C41230"/>
          </a:solidFill>
          <a:ln w="12700">
            <a:solidFill>
              <a:srgbClr val="C41230"/>
            </a:solidFill>
            <a:prstDash val="solid"/>
          </a:ln>
        </p:spPr>
      </p:sp>
      <p:sp>
        <p:nvSpPr>
          <p:cNvPr id="6" name="Text 4"/>
          <p:cNvSpPr/>
          <p:nvPr/>
        </p:nvSpPr>
        <p:spPr>
          <a:xfrm>
            <a:off x="548640" y="1097280"/>
            <a:ext cx="2468880" cy="658368"/>
          </a:xfrm>
          <a:prstGeom prst="rect">
            <a:avLst/>
          </a:prstGeom>
          <a:noFill/>
          <a:ln/>
        </p:spPr>
        <p:txBody>
          <a:bodyPr wrap="square" lIns="0" tIns="0" rIns="0" bIns="0" rtlCol="0" anchor="t"/>
          <a:lstStyle/>
          <a:p>
            <a:pPr indent="0" marL="0">
              <a:buNone/>
            </a:pPr>
            <a:r>
              <a:rPr lang="en-US" sz="1300" b="1" dirty="0">
                <a:solidFill>
                  <a:srgbClr val="C41230"/>
                </a:solidFill>
                <a:latin typeface="Georgia" pitchFamily="34" charset="0"/>
                <a:ea typeface="Georgia" pitchFamily="34" charset="-122"/>
                <a:cs typeface="Georgia" pitchFamily="34" charset="-120"/>
              </a:rPr>
              <a:t>Semantic Embeddings</a:t>
            </a:r>
            <a:endParaRPr lang="en-US" sz="1300" dirty="0"/>
          </a:p>
        </p:txBody>
      </p:sp>
      <p:sp>
        <p:nvSpPr>
          <p:cNvPr id="7" name="Text 5"/>
          <p:cNvSpPr/>
          <p:nvPr/>
        </p:nvSpPr>
        <p:spPr>
          <a:xfrm>
            <a:off x="548640" y="1847088"/>
            <a:ext cx="2487168" cy="2834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Model: sentence-transformers/all-MiniLM-L6-v2</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Each KB chunk → 384-dimensional vector</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Captures meaning, not just keywords</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Pre-computed at startup via HuggingFace API</a:t>
            </a:r>
            <a:endParaRPr lang="en-US" sz="1150" dirty="0"/>
          </a:p>
        </p:txBody>
      </p:sp>
      <p:sp>
        <p:nvSpPr>
          <p:cNvPr id="8" name="Shape 6"/>
          <p:cNvSpPr/>
          <p:nvPr/>
        </p:nvSpPr>
        <p:spPr>
          <a:xfrm>
            <a:off x="3310128" y="914400"/>
            <a:ext cx="2743200" cy="393192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9" name="Shape 7"/>
          <p:cNvSpPr/>
          <p:nvPr/>
        </p:nvSpPr>
        <p:spPr>
          <a:xfrm>
            <a:off x="3310128" y="914400"/>
            <a:ext cx="2743200" cy="109728"/>
          </a:xfrm>
          <a:prstGeom prst="rect">
            <a:avLst/>
          </a:prstGeom>
          <a:solidFill>
            <a:srgbClr val="1565C0"/>
          </a:solidFill>
          <a:ln w="12700">
            <a:solidFill>
              <a:srgbClr val="1565C0"/>
            </a:solidFill>
            <a:prstDash val="solid"/>
          </a:ln>
        </p:spPr>
      </p:sp>
      <p:sp>
        <p:nvSpPr>
          <p:cNvPr id="10" name="Text 8"/>
          <p:cNvSpPr/>
          <p:nvPr/>
        </p:nvSpPr>
        <p:spPr>
          <a:xfrm>
            <a:off x="3447288" y="1097280"/>
            <a:ext cx="2468880" cy="658368"/>
          </a:xfrm>
          <a:prstGeom prst="rect">
            <a:avLst/>
          </a:prstGeom>
          <a:noFill/>
          <a:ln/>
        </p:spPr>
        <p:txBody>
          <a:bodyPr wrap="square" lIns="0" tIns="0" rIns="0" bIns="0" rtlCol="0" anchor="t"/>
          <a:lstStyle/>
          <a:p>
            <a:pPr indent="0" marL="0">
              <a:buNone/>
            </a:pPr>
            <a:r>
              <a:rPr lang="en-US" sz="1300" b="1" dirty="0">
                <a:solidFill>
                  <a:srgbClr val="1565C0"/>
                </a:solidFill>
                <a:latin typeface="Georgia" pitchFamily="34" charset="0"/>
                <a:ea typeface="Georgia" pitchFamily="34" charset="-122"/>
                <a:cs typeface="Georgia" pitchFamily="34" charset="-120"/>
              </a:rPr>
              <a:t>Vector Similarity Search</a:t>
            </a:r>
            <a:endParaRPr lang="en-US" sz="1300" dirty="0"/>
          </a:p>
        </p:txBody>
      </p:sp>
      <p:sp>
        <p:nvSpPr>
          <p:cNvPr id="11" name="Text 9"/>
          <p:cNvSpPr/>
          <p:nvPr/>
        </p:nvSpPr>
        <p:spPr>
          <a:xfrm>
            <a:off x="3447288" y="1847088"/>
            <a:ext cx="2487168" cy="2834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dot(q, d) / (|q| × |d|) for every KB chunk</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Threshold: min similarity 0.2 to filter noise</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Falls back to keyword search if no API key</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188 chunks from 16 knowledge base files</a:t>
            </a:r>
            <a:endParaRPr lang="en-US" sz="1150" dirty="0"/>
          </a:p>
        </p:txBody>
      </p:sp>
      <p:sp>
        <p:nvSpPr>
          <p:cNvPr id="12" name="Shape 10"/>
          <p:cNvSpPr/>
          <p:nvPr/>
        </p:nvSpPr>
        <p:spPr>
          <a:xfrm>
            <a:off x="6208776" y="914400"/>
            <a:ext cx="2743200" cy="3931920"/>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3" name="Shape 11"/>
          <p:cNvSpPr/>
          <p:nvPr/>
        </p:nvSpPr>
        <p:spPr>
          <a:xfrm>
            <a:off x="6208776" y="914400"/>
            <a:ext cx="2743200" cy="109728"/>
          </a:xfrm>
          <a:prstGeom prst="rect">
            <a:avLst/>
          </a:prstGeom>
          <a:solidFill>
            <a:srgbClr val="2E7D32"/>
          </a:solidFill>
          <a:ln w="12700">
            <a:solidFill>
              <a:srgbClr val="2E7D32"/>
            </a:solidFill>
            <a:prstDash val="solid"/>
          </a:ln>
        </p:spPr>
      </p:sp>
      <p:sp>
        <p:nvSpPr>
          <p:cNvPr id="14" name="Text 12"/>
          <p:cNvSpPr/>
          <p:nvPr/>
        </p:nvSpPr>
        <p:spPr>
          <a:xfrm>
            <a:off x="6345936" y="1097280"/>
            <a:ext cx="2468880" cy="658368"/>
          </a:xfrm>
          <a:prstGeom prst="rect">
            <a:avLst/>
          </a:prstGeom>
          <a:noFill/>
          <a:ln/>
        </p:spPr>
        <p:txBody>
          <a:bodyPr wrap="square" lIns="0" tIns="0" rIns="0" bIns="0" rtlCol="0" anchor="t"/>
          <a:lstStyle/>
          <a:p>
            <a:pPr indent="0" marL="0">
              <a:buNone/>
            </a:pPr>
            <a:r>
              <a:rPr lang="en-US" sz="1300" b="1" dirty="0">
                <a:solidFill>
                  <a:srgbClr val="2E7D32"/>
                </a:solidFill>
                <a:latin typeface="Georgia" pitchFamily="34" charset="0"/>
                <a:ea typeface="Georgia" pitchFamily="34" charset="-122"/>
                <a:cs typeface="Georgia" pitchFamily="34" charset="-120"/>
              </a:rPr>
              <a:t>Fuzzy Query Correction</a:t>
            </a:r>
            <a:endParaRPr lang="en-US" sz="1300" dirty="0"/>
          </a:p>
        </p:txBody>
      </p:sp>
      <p:sp>
        <p:nvSpPr>
          <p:cNvPr id="15" name="Text 13"/>
          <p:cNvSpPr/>
          <p:nvPr/>
        </p:nvSpPr>
        <p:spPr>
          <a:xfrm>
            <a:off x="6345936" y="1847088"/>
            <a:ext cx="2487168" cy="2834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Levenshtein edit distance per token</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Allows floor(len/3) edits — scales with word length</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CMU-Q vocabulary of 50+ domain terms</a:t>
            </a:r>
            <a:endParaRPr lang="en-US" sz="1150" dirty="0"/>
          </a:p>
          <a:p>
            <a:pPr marL="342900" indent="-342900">
              <a:spcAft>
                <a:spcPts val="600"/>
              </a:spcAft>
              <a:buSzPct val="100000"/>
              <a:buChar char="•"/>
            </a:pPr>
            <a:r>
              <a:rPr lang="en-US" sz="1150" dirty="0">
                <a:solidFill>
                  <a:srgbClr val="444444"/>
                </a:solidFill>
                <a:latin typeface="Calibri" pitchFamily="34" charset="0"/>
                <a:ea typeface="Calibri" pitchFamily="34" charset="-122"/>
                <a:cs typeface="Calibri" pitchFamily="34" charset="-120"/>
              </a:rPr>
              <a:t>Sound-alike map for voice recognition errors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System Architecture</a:t>
            </a:r>
            <a:endParaRPr lang="en-US" sz="2200" dirty="0"/>
          </a:p>
        </p:txBody>
      </p:sp>
      <p:sp>
        <p:nvSpPr>
          <p:cNvPr id="4" name="Shape 2"/>
          <p:cNvSpPr/>
          <p:nvPr/>
        </p:nvSpPr>
        <p:spPr>
          <a:xfrm>
            <a:off x="411480" y="914400"/>
            <a:ext cx="3749040" cy="3657600"/>
          </a:xfrm>
          <a:prstGeom prst="rect">
            <a:avLst/>
          </a:prstGeom>
          <a:solidFill>
            <a:srgbClr val="EFF6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5" name="Text 3"/>
          <p:cNvSpPr/>
          <p:nvPr/>
        </p:nvSpPr>
        <p:spPr>
          <a:xfrm>
            <a:off x="411480" y="914400"/>
            <a:ext cx="3749040" cy="347472"/>
          </a:xfrm>
          <a:prstGeom prst="rect">
            <a:avLst/>
          </a:prstGeom>
          <a:noFill/>
          <a:ln/>
        </p:spPr>
        <p:txBody>
          <a:bodyPr wrap="square" lIns="0" tIns="0" rIns="0" bIns="0" rtlCol="0" anchor="ctr"/>
          <a:lstStyle/>
          <a:p>
            <a:pPr algn="ctr" indent="0" marL="0">
              <a:buNone/>
            </a:pPr>
            <a:r>
              <a:rPr lang="en-US" sz="1300" b="1" dirty="0">
                <a:solidFill>
                  <a:srgbClr val="1565C0"/>
                </a:solidFill>
                <a:latin typeface="Georgia" pitchFamily="34" charset="0"/>
                <a:ea typeface="Georgia" pitchFamily="34" charset="-122"/>
                <a:cs typeface="Georgia" pitchFamily="34" charset="-120"/>
              </a:rPr>
              <a:t>FRONTEND</a:t>
            </a:r>
            <a:endParaRPr lang="en-US" sz="1300" dirty="0"/>
          </a:p>
        </p:txBody>
      </p:sp>
      <p:sp>
        <p:nvSpPr>
          <p:cNvPr id="6" name="Text 4"/>
          <p:cNvSpPr/>
          <p:nvPr/>
        </p:nvSpPr>
        <p:spPr>
          <a:xfrm>
            <a:off x="502920" y="1325880"/>
            <a:ext cx="3566160" cy="274320"/>
          </a:xfrm>
          <a:prstGeom prst="rect">
            <a:avLst/>
          </a:prstGeom>
          <a:noFill/>
          <a:ln/>
        </p:spPr>
        <p:txBody>
          <a:bodyPr wrap="square" lIns="0" tIns="0" rIns="0" bIns="0" rtlCol="0" anchor="ctr"/>
          <a:lstStyle/>
          <a:p>
            <a:pPr algn="ctr" indent="0" marL="0">
              <a:buNone/>
            </a:pPr>
            <a:r>
              <a:rPr lang="en-US" sz="1100" dirty="0">
                <a:solidFill>
                  <a:srgbClr val="1565C0"/>
                </a:solidFill>
                <a:latin typeface="Calibri" pitchFamily="34" charset="0"/>
                <a:ea typeface="Calibri" pitchFamily="34" charset="-122"/>
                <a:cs typeface="Calibri" pitchFamily="34" charset="-120"/>
              </a:rPr>
              <a:t>React 19 — port 3000</a:t>
            </a:r>
            <a:endParaRPr lang="en-US" sz="1100" dirty="0"/>
          </a:p>
        </p:txBody>
      </p:sp>
      <p:sp>
        <p:nvSpPr>
          <p:cNvPr id="7" name="Shape 5"/>
          <p:cNvSpPr/>
          <p:nvPr/>
        </p:nvSpPr>
        <p:spPr>
          <a:xfrm>
            <a:off x="548640" y="1737360"/>
            <a:ext cx="3474720" cy="384048"/>
          </a:xfrm>
          <a:prstGeom prst="rect">
            <a:avLst/>
          </a:prstGeom>
          <a:solidFill>
            <a:srgbClr val="FFFF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8" name="Text 6"/>
          <p:cNvSpPr/>
          <p:nvPr/>
        </p:nvSpPr>
        <p:spPr>
          <a:xfrm>
            <a:off x="685800" y="17556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App.js — mode tabs, conversation history</a:t>
            </a:r>
            <a:endParaRPr lang="en-US" sz="1100" dirty="0"/>
          </a:p>
        </p:txBody>
      </p:sp>
      <p:sp>
        <p:nvSpPr>
          <p:cNvPr id="9" name="Shape 7"/>
          <p:cNvSpPr/>
          <p:nvPr/>
        </p:nvSpPr>
        <p:spPr>
          <a:xfrm>
            <a:off x="548640" y="2194560"/>
            <a:ext cx="3474720" cy="384048"/>
          </a:xfrm>
          <a:prstGeom prst="rect">
            <a:avLst/>
          </a:prstGeom>
          <a:solidFill>
            <a:srgbClr val="FFFF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10" name="Text 8"/>
          <p:cNvSpPr/>
          <p:nvPr/>
        </p:nvSpPr>
        <p:spPr>
          <a:xfrm>
            <a:off x="685800" y="22128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ChatInterface.jsx — messages, input, voice</a:t>
            </a:r>
            <a:endParaRPr lang="en-US" sz="1100" dirty="0"/>
          </a:p>
        </p:txBody>
      </p:sp>
      <p:sp>
        <p:nvSpPr>
          <p:cNvPr id="11" name="Shape 9"/>
          <p:cNvSpPr/>
          <p:nvPr/>
        </p:nvSpPr>
        <p:spPr>
          <a:xfrm>
            <a:off x="548640" y="2651760"/>
            <a:ext cx="3474720" cy="384048"/>
          </a:xfrm>
          <a:prstGeom prst="rect">
            <a:avLst/>
          </a:prstGeom>
          <a:solidFill>
            <a:srgbClr val="FFFF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12" name="Text 10"/>
          <p:cNvSpPr/>
          <p:nvPr/>
        </p:nvSpPr>
        <p:spPr>
          <a:xfrm>
            <a:off x="685800" y="26700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useSpeech() — Web Speech TTS</a:t>
            </a:r>
            <a:endParaRPr lang="en-US" sz="1100" dirty="0"/>
          </a:p>
        </p:txBody>
      </p:sp>
      <p:sp>
        <p:nvSpPr>
          <p:cNvPr id="13" name="Shape 11"/>
          <p:cNvSpPr/>
          <p:nvPr/>
        </p:nvSpPr>
        <p:spPr>
          <a:xfrm>
            <a:off x="548640" y="3108960"/>
            <a:ext cx="3474720" cy="384048"/>
          </a:xfrm>
          <a:prstGeom prst="rect">
            <a:avLst/>
          </a:prstGeom>
          <a:solidFill>
            <a:srgbClr val="FFFF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14" name="Text 12"/>
          <p:cNvSpPr/>
          <p:nvPr/>
        </p:nvSpPr>
        <p:spPr>
          <a:xfrm>
            <a:off x="685800" y="31272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useMic() — SpeechRecognition API</a:t>
            </a:r>
            <a:endParaRPr lang="en-US" sz="1100" dirty="0"/>
          </a:p>
        </p:txBody>
      </p:sp>
      <p:sp>
        <p:nvSpPr>
          <p:cNvPr id="15" name="Shape 13"/>
          <p:cNvSpPr/>
          <p:nvPr/>
        </p:nvSpPr>
        <p:spPr>
          <a:xfrm>
            <a:off x="548640" y="3566160"/>
            <a:ext cx="3474720" cy="384048"/>
          </a:xfrm>
          <a:prstGeom prst="rect">
            <a:avLst/>
          </a:prstGeom>
          <a:solidFill>
            <a:srgbClr val="FFFF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16" name="Text 14"/>
          <p:cNvSpPr/>
          <p:nvPr/>
        </p:nvSpPr>
        <p:spPr>
          <a:xfrm>
            <a:off x="685800" y="35844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SideMenu.jsx — saved conversations</a:t>
            </a:r>
            <a:endParaRPr lang="en-US" sz="1100" dirty="0"/>
          </a:p>
        </p:txBody>
      </p:sp>
      <p:sp>
        <p:nvSpPr>
          <p:cNvPr id="17" name="Shape 15"/>
          <p:cNvSpPr/>
          <p:nvPr/>
        </p:nvSpPr>
        <p:spPr>
          <a:xfrm>
            <a:off x="548640" y="4023360"/>
            <a:ext cx="3474720" cy="384048"/>
          </a:xfrm>
          <a:prstGeom prst="rect">
            <a:avLst/>
          </a:prstGeom>
          <a:solidFill>
            <a:srgbClr val="FFFFFF"/>
          </a:solidFill>
          <a:ln w="6350">
            <a:solidFill>
              <a:srgbClr val="BBDEFB"/>
            </a:solidFill>
            <a:prstDash val="solid"/>
          </a:ln>
          <a:effectLst>
            <a:outerShdw sx="100000" sy="100000" kx="0" ky="0" algn="bl" rotWithShape="0" blurRad="76200" dist="25400" dir="8100000">
              <a:srgbClr val="000000">
                <a:alpha val="7000"/>
              </a:srgbClr>
            </a:outerShdw>
          </a:effectLst>
        </p:spPr>
      </p:sp>
      <p:sp>
        <p:nvSpPr>
          <p:cNvPr id="18" name="Text 16"/>
          <p:cNvSpPr/>
          <p:nvPr/>
        </p:nvSpPr>
        <p:spPr>
          <a:xfrm>
            <a:off x="685800" y="40416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MapNavigator.jsx — campus map</a:t>
            </a:r>
            <a:endParaRPr lang="en-US" sz="1100" dirty="0"/>
          </a:p>
        </p:txBody>
      </p:sp>
      <p:sp>
        <p:nvSpPr>
          <p:cNvPr id="19" name="Shape 17"/>
          <p:cNvSpPr/>
          <p:nvPr/>
        </p:nvSpPr>
        <p:spPr>
          <a:xfrm>
            <a:off x="4206240" y="2468880"/>
            <a:ext cx="731520" cy="54864"/>
          </a:xfrm>
          <a:prstGeom prst="rect">
            <a:avLst/>
          </a:prstGeom>
          <a:solidFill>
            <a:srgbClr val="C41230"/>
          </a:solidFill>
          <a:ln w="12700">
            <a:solidFill>
              <a:srgbClr val="C41230"/>
            </a:solidFill>
            <a:prstDash val="solid"/>
          </a:ln>
        </p:spPr>
      </p:sp>
      <p:sp>
        <p:nvSpPr>
          <p:cNvPr id="20" name="Text 18"/>
          <p:cNvSpPr/>
          <p:nvPr/>
        </p:nvSpPr>
        <p:spPr>
          <a:xfrm>
            <a:off x="4187952" y="2148840"/>
            <a:ext cx="777240" cy="274320"/>
          </a:xfrm>
          <a:prstGeom prst="rect">
            <a:avLst/>
          </a:prstGeom>
          <a:noFill/>
          <a:ln/>
        </p:spPr>
        <p:txBody>
          <a:bodyPr wrap="square" lIns="0" tIns="0" rIns="0" bIns="0" rtlCol="0" anchor="ctr"/>
          <a:lstStyle/>
          <a:p>
            <a:pPr algn="ctr" indent="0" marL="0">
              <a:buNone/>
            </a:pPr>
            <a:r>
              <a:rPr lang="en-US" sz="1000" dirty="0">
                <a:solidFill>
                  <a:srgbClr val="C41230"/>
                </a:solidFill>
                <a:latin typeface="Calibri" pitchFamily="34" charset="0"/>
                <a:ea typeface="Calibri" pitchFamily="34" charset="-122"/>
                <a:cs typeface="Calibri" pitchFamily="34" charset="-120"/>
              </a:rPr>
              <a:t>HTTP</a:t>
            </a:r>
            <a:endParaRPr lang="en-US" sz="1000" dirty="0"/>
          </a:p>
        </p:txBody>
      </p:sp>
      <p:sp>
        <p:nvSpPr>
          <p:cNvPr id="21" name="Text 19"/>
          <p:cNvSpPr/>
          <p:nvPr/>
        </p:nvSpPr>
        <p:spPr>
          <a:xfrm>
            <a:off x="4187952" y="2359152"/>
            <a:ext cx="777240" cy="320040"/>
          </a:xfrm>
          <a:prstGeom prst="rect">
            <a:avLst/>
          </a:prstGeom>
          <a:noFill/>
          <a:ln/>
        </p:spPr>
        <p:txBody>
          <a:bodyPr wrap="square" lIns="0" tIns="0" rIns="0" bIns="0" rtlCol="0" anchor="ctr"/>
          <a:lstStyle/>
          <a:p>
            <a:pPr algn="ctr" indent="0" marL="0">
              <a:buNone/>
            </a:pPr>
            <a:r>
              <a:rPr lang="en-US" sz="2200" dirty="0">
                <a:solidFill>
                  <a:srgbClr val="C41230"/>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4983480" y="914400"/>
            <a:ext cx="3749040" cy="3657600"/>
          </a:xfrm>
          <a:prstGeom prst="rect">
            <a:avLst/>
          </a:prstGeom>
          <a:solidFill>
            <a:srgbClr val="FFF3F3"/>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23" name="Text 21"/>
          <p:cNvSpPr/>
          <p:nvPr/>
        </p:nvSpPr>
        <p:spPr>
          <a:xfrm>
            <a:off x="4983480" y="914400"/>
            <a:ext cx="3749040" cy="347472"/>
          </a:xfrm>
          <a:prstGeom prst="rect">
            <a:avLst/>
          </a:prstGeom>
          <a:noFill/>
          <a:ln/>
        </p:spPr>
        <p:txBody>
          <a:bodyPr wrap="square" lIns="0" tIns="0" rIns="0" bIns="0" rtlCol="0" anchor="ctr"/>
          <a:lstStyle/>
          <a:p>
            <a:pPr algn="ctr" indent="0" marL="0">
              <a:buNone/>
            </a:pPr>
            <a:r>
              <a:rPr lang="en-US" sz="1300" b="1" dirty="0">
                <a:solidFill>
                  <a:srgbClr val="C41230"/>
                </a:solidFill>
                <a:latin typeface="Georgia" pitchFamily="34" charset="0"/>
                <a:ea typeface="Georgia" pitchFamily="34" charset="-122"/>
                <a:cs typeface="Georgia" pitchFamily="34" charset="-120"/>
              </a:rPr>
              <a:t>BACKEND</a:t>
            </a:r>
            <a:endParaRPr lang="en-US" sz="1300" dirty="0"/>
          </a:p>
        </p:txBody>
      </p:sp>
      <p:sp>
        <p:nvSpPr>
          <p:cNvPr id="24" name="Text 22"/>
          <p:cNvSpPr/>
          <p:nvPr/>
        </p:nvSpPr>
        <p:spPr>
          <a:xfrm>
            <a:off x="5074920" y="1325880"/>
            <a:ext cx="3566160" cy="274320"/>
          </a:xfrm>
          <a:prstGeom prst="rect">
            <a:avLst/>
          </a:prstGeom>
          <a:noFill/>
          <a:ln/>
        </p:spPr>
        <p:txBody>
          <a:bodyPr wrap="square" lIns="0" tIns="0" rIns="0" bIns="0" rtlCol="0" anchor="ctr"/>
          <a:lstStyle/>
          <a:p>
            <a:pPr algn="ctr" indent="0" marL="0">
              <a:buNone/>
            </a:pPr>
            <a:r>
              <a:rPr lang="en-US" sz="1100" dirty="0">
                <a:solidFill>
                  <a:srgbClr val="C41230"/>
                </a:solidFill>
                <a:latin typeface="Calibri" pitchFamily="34" charset="0"/>
                <a:ea typeface="Calibri" pitchFamily="34" charset="-122"/>
                <a:cs typeface="Calibri" pitchFamily="34" charset="-120"/>
              </a:rPr>
              <a:t>Express.js — port 3001</a:t>
            </a:r>
            <a:endParaRPr lang="en-US" sz="1100" dirty="0"/>
          </a:p>
        </p:txBody>
      </p:sp>
      <p:sp>
        <p:nvSpPr>
          <p:cNvPr id="25" name="Shape 23"/>
          <p:cNvSpPr/>
          <p:nvPr/>
        </p:nvSpPr>
        <p:spPr>
          <a:xfrm>
            <a:off x="5120640" y="1737360"/>
            <a:ext cx="3474720" cy="384048"/>
          </a:xfrm>
          <a:prstGeom prst="rect">
            <a:avLst/>
          </a:prstGeom>
          <a:solidFill>
            <a:srgbClr val="FFFFFF"/>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26" name="Text 24"/>
          <p:cNvSpPr/>
          <p:nvPr/>
        </p:nvSpPr>
        <p:spPr>
          <a:xfrm>
            <a:off x="5257800" y="17556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server.js — routing, system prompts</a:t>
            </a:r>
            <a:endParaRPr lang="en-US" sz="1100" dirty="0"/>
          </a:p>
        </p:txBody>
      </p:sp>
      <p:sp>
        <p:nvSpPr>
          <p:cNvPr id="27" name="Shape 25"/>
          <p:cNvSpPr/>
          <p:nvPr/>
        </p:nvSpPr>
        <p:spPr>
          <a:xfrm>
            <a:off x="5120640" y="2194560"/>
            <a:ext cx="3474720" cy="384048"/>
          </a:xfrm>
          <a:prstGeom prst="rect">
            <a:avLst/>
          </a:prstGeom>
          <a:solidFill>
            <a:srgbClr val="FFFFFF"/>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28" name="Text 26"/>
          <p:cNvSpPr/>
          <p:nvPr/>
        </p:nvSpPr>
        <p:spPr>
          <a:xfrm>
            <a:off x="5257800" y="22128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knowledgeBase.js — RAG pipeline</a:t>
            </a:r>
            <a:endParaRPr lang="en-US" sz="1100" dirty="0"/>
          </a:p>
        </p:txBody>
      </p:sp>
      <p:sp>
        <p:nvSpPr>
          <p:cNvPr id="29" name="Shape 27"/>
          <p:cNvSpPr/>
          <p:nvPr/>
        </p:nvSpPr>
        <p:spPr>
          <a:xfrm>
            <a:off x="5120640" y="2651760"/>
            <a:ext cx="3474720" cy="384048"/>
          </a:xfrm>
          <a:prstGeom prst="rect">
            <a:avLst/>
          </a:prstGeom>
          <a:solidFill>
            <a:srgbClr val="FFFFFF"/>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30" name="Text 28"/>
          <p:cNvSpPr/>
          <p:nvPr/>
        </p:nvSpPr>
        <p:spPr>
          <a:xfrm>
            <a:off x="5257800" y="26700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16 KB files → 188 chunks</a:t>
            </a:r>
            <a:endParaRPr lang="en-US" sz="1100" dirty="0"/>
          </a:p>
        </p:txBody>
      </p:sp>
      <p:sp>
        <p:nvSpPr>
          <p:cNvPr id="31" name="Shape 29"/>
          <p:cNvSpPr/>
          <p:nvPr/>
        </p:nvSpPr>
        <p:spPr>
          <a:xfrm>
            <a:off x="5120640" y="3108960"/>
            <a:ext cx="3474720" cy="384048"/>
          </a:xfrm>
          <a:prstGeom prst="rect">
            <a:avLst/>
          </a:prstGeom>
          <a:solidFill>
            <a:srgbClr val="FFFFFF"/>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32" name="Text 30"/>
          <p:cNvSpPr/>
          <p:nvPr/>
        </p:nvSpPr>
        <p:spPr>
          <a:xfrm>
            <a:off x="5257800" y="31272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HuggingFace Embeddings API</a:t>
            </a:r>
            <a:endParaRPr lang="en-US" sz="1100" dirty="0"/>
          </a:p>
        </p:txBody>
      </p:sp>
      <p:sp>
        <p:nvSpPr>
          <p:cNvPr id="33" name="Shape 31"/>
          <p:cNvSpPr/>
          <p:nvPr/>
        </p:nvSpPr>
        <p:spPr>
          <a:xfrm>
            <a:off x="5120640" y="3566160"/>
            <a:ext cx="3474720" cy="384048"/>
          </a:xfrm>
          <a:prstGeom prst="rect">
            <a:avLst/>
          </a:prstGeom>
          <a:solidFill>
            <a:srgbClr val="FFFFFF"/>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34" name="Text 32"/>
          <p:cNvSpPr/>
          <p:nvPr/>
        </p:nvSpPr>
        <p:spPr>
          <a:xfrm>
            <a:off x="5257800" y="35844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LLM: HuggingFace or Anthropic</a:t>
            </a:r>
            <a:endParaRPr lang="en-US" sz="1100" dirty="0"/>
          </a:p>
        </p:txBody>
      </p:sp>
      <p:sp>
        <p:nvSpPr>
          <p:cNvPr id="35" name="Shape 33"/>
          <p:cNvSpPr/>
          <p:nvPr/>
        </p:nvSpPr>
        <p:spPr>
          <a:xfrm>
            <a:off x="5120640" y="4023360"/>
            <a:ext cx="3474720" cy="384048"/>
          </a:xfrm>
          <a:prstGeom prst="rect">
            <a:avLst/>
          </a:prstGeom>
          <a:solidFill>
            <a:srgbClr val="FFFFFF"/>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36" name="Text 34"/>
          <p:cNvSpPr/>
          <p:nvPr/>
        </p:nvSpPr>
        <p:spPr>
          <a:xfrm>
            <a:off x="5257800" y="4041648"/>
            <a:ext cx="3200400" cy="34747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Fuzzy query normalizer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Testing &amp; Validation</a:t>
            </a:r>
            <a:endParaRPr lang="en-US" sz="2200" dirty="0"/>
          </a:p>
        </p:txBody>
      </p:sp>
      <p:sp>
        <p:nvSpPr>
          <p:cNvPr id="4" name="Shape 2"/>
          <p:cNvSpPr/>
          <p:nvPr/>
        </p:nvSpPr>
        <p:spPr>
          <a:xfrm>
            <a:off x="411480" y="822960"/>
            <a:ext cx="2011680" cy="12344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5" name="Text 3"/>
          <p:cNvSpPr/>
          <p:nvPr/>
        </p:nvSpPr>
        <p:spPr>
          <a:xfrm>
            <a:off x="411480" y="822960"/>
            <a:ext cx="2011680" cy="822960"/>
          </a:xfrm>
          <a:prstGeom prst="rect">
            <a:avLst/>
          </a:prstGeom>
          <a:noFill/>
          <a:ln/>
        </p:spPr>
        <p:txBody>
          <a:bodyPr wrap="square" lIns="0" tIns="0" rIns="0" bIns="0" rtlCol="0" anchor="b"/>
          <a:lstStyle/>
          <a:p>
            <a:pPr algn="ctr" indent="0" marL="0">
              <a:buNone/>
            </a:pPr>
            <a:r>
              <a:rPr lang="en-US" sz="4200" b="1" dirty="0">
                <a:solidFill>
                  <a:srgbClr val="C41230"/>
                </a:solidFill>
                <a:latin typeface="Georgia" pitchFamily="34" charset="0"/>
                <a:ea typeface="Georgia" pitchFamily="34" charset="-122"/>
                <a:cs typeface="Georgia" pitchFamily="34" charset="-120"/>
              </a:rPr>
              <a:t>35</a:t>
            </a:r>
            <a:endParaRPr lang="en-US" sz="4200" dirty="0"/>
          </a:p>
        </p:txBody>
      </p:sp>
      <p:sp>
        <p:nvSpPr>
          <p:cNvPr id="6" name="Text 4"/>
          <p:cNvSpPr/>
          <p:nvPr/>
        </p:nvSpPr>
        <p:spPr>
          <a:xfrm>
            <a:off x="411480" y="1627632"/>
            <a:ext cx="2011680"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Total tests</a:t>
            </a:r>
            <a:endParaRPr lang="en-US" sz="1200" dirty="0"/>
          </a:p>
        </p:txBody>
      </p:sp>
      <p:sp>
        <p:nvSpPr>
          <p:cNvPr id="7" name="Text 5"/>
          <p:cNvSpPr/>
          <p:nvPr/>
        </p:nvSpPr>
        <p:spPr>
          <a:xfrm>
            <a:off x="411480" y="1874520"/>
            <a:ext cx="2011680" cy="201168"/>
          </a:xfrm>
          <a:prstGeom prst="rect">
            <a:avLst/>
          </a:prstGeom>
          <a:noFill/>
          <a:ln/>
        </p:spPr>
        <p:txBody>
          <a:bodyPr wrap="square" lIns="0" tIns="0" rIns="0" bIns="0"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all passing</a:t>
            </a:r>
            <a:endParaRPr lang="en-US" sz="1000" dirty="0"/>
          </a:p>
        </p:txBody>
      </p:sp>
      <p:sp>
        <p:nvSpPr>
          <p:cNvPr id="8" name="Shape 6"/>
          <p:cNvSpPr/>
          <p:nvPr/>
        </p:nvSpPr>
        <p:spPr>
          <a:xfrm>
            <a:off x="2587752" y="822960"/>
            <a:ext cx="2011680" cy="12344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9" name="Text 7"/>
          <p:cNvSpPr/>
          <p:nvPr/>
        </p:nvSpPr>
        <p:spPr>
          <a:xfrm>
            <a:off x="2587752" y="822960"/>
            <a:ext cx="2011680" cy="822960"/>
          </a:xfrm>
          <a:prstGeom prst="rect">
            <a:avLst/>
          </a:prstGeom>
          <a:noFill/>
          <a:ln/>
        </p:spPr>
        <p:txBody>
          <a:bodyPr wrap="square" lIns="0" tIns="0" rIns="0" bIns="0" rtlCol="0" anchor="b"/>
          <a:lstStyle/>
          <a:p>
            <a:pPr algn="ctr" indent="0" marL="0">
              <a:buNone/>
            </a:pPr>
            <a:r>
              <a:rPr lang="en-US" sz="4200" b="1" dirty="0">
                <a:solidFill>
                  <a:srgbClr val="C41230"/>
                </a:solidFill>
                <a:latin typeface="Georgia" pitchFamily="34" charset="0"/>
                <a:ea typeface="Georgia" pitchFamily="34" charset="-122"/>
                <a:cs typeface="Georgia" pitchFamily="34" charset="-120"/>
              </a:rPr>
              <a:t>16</a:t>
            </a:r>
            <a:endParaRPr lang="en-US" sz="4200" dirty="0"/>
          </a:p>
        </p:txBody>
      </p:sp>
      <p:sp>
        <p:nvSpPr>
          <p:cNvPr id="10" name="Text 8"/>
          <p:cNvSpPr/>
          <p:nvPr/>
        </p:nvSpPr>
        <p:spPr>
          <a:xfrm>
            <a:off x="2587752" y="1627632"/>
            <a:ext cx="2011680"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KB files</a:t>
            </a:r>
            <a:endParaRPr lang="en-US" sz="1200" dirty="0"/>
          </a:p>
        </p:txBody>
      </p:sp>
      <p:sp>
        <p:nvSpPr>
          <p:cNvPr id="11" name="Text 9"/>
          <p:cNvSpPr/>
          <p:nvPr/>
        </p:nvSpPr>
        <p:spPr>
          <a:xfrm>
            <a:off x="2587752" y="1874520"/>
            <a:ext cx="2011680" cy="201168"/>
          </a:xfrm>
          <a:prstGeom prst="rect">
            <a:avLst/>
          </a:prstGeom>
          <a:noFill/>
          <a:ln/>
        </p:spPr>
        <p:txBody>
          <a:bodyPr wrap="square" lIns="0" tIns="0" rIns="0" bIns="0"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data-cleaned</a:t>
            </a:r>
            <a:endParaRPr lang="en-US" sz="1000" dirty="0"/>
          </a:p>
        </p:txBody>
      </p:sp>
      <p:sp>
        <p:nvSpPr>
          <p:cNvPr id="12" name="Shape 10"/>
          <p:cNvSpPr/>
          <p:nvPr/>
        </p:nvSpPr>
        <p:spPr>
          <a:xfrm>
            <a:off x="4764024" y="822960"/>
            <a:ext cx="2011680" cy="12344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3" name="Text 11"/>
          <p:cNvSpPr/>
          <p:nvPr/>
        </p:nvSpPr>
        <p:spPr>
          <a:xfrm>
            <a:off x="4764024" y="822960"/>
            <a:ext cx="2011680" cy="822960"/>
          </a:xfrm>
          <a:prstGeom prst="rect">
            <a:avLst/>
          </a:prstGeom>
          <a:noFill/>
          <a:ln/>
        </p:spPr>
        <p:txBody>
          <a:bodyPr wrap="square" lIns="0" tIns="0" rIns="0" bIns="0" rtlCol="0" anchor="b"/>
          <a:lstStyle/>
          <a:p>
            <a:pPr algn="ctr" indent="0" marL="0">
              <a:buNone/>
            </a:pPr>
            <a:r>
              <a:rPr lang="en-US" sz="4200" b="1" dirty="0">
                <a:solidFill>
                  <a:srgbClr val="C41230"/>
                </a:solidFill>
                <a:latin typeface="Georgia" pitchFamily="34" charset="0"/>
                <a:ea typeface="Georgia" pitchFamily="34" charset="-122"/>
                <a:cs typeface="Georgia" pitchFamily="34" charset="-120"/>
              </a:rPr>
              <a:t>188</a:t>
            </a:r>
            <a:endParaRPr lang="en-US" sz="4200" dirty="0"/>
          </a:p>
        </p:txBody>
      </p:sp>
      <p:sp>
        <p:nvSpPr>
          <p:cNvPr id="14" name="Text 12"/>
          <p:cNvSpPr/>
          <p:nvPr/>
        </p:nvSpPr>
        <p:spPr>
          <a:xfrm>
            <a:off x="4764024" y="1627632"/>
            <a:ext cx="2011680"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KB chunks</a:t>
            </a:r>
            <a:endParaRPr lang="en-US" sz="1200" dirty="0"/>
          </a:p>
        </p:txBody>
      </p:sp>
      <p:sp>
        <p:nvSpPr>
          <p:cNvPr id="15" name="Text 13"/>
          <p:cNvSpPr/>
          <p:nvPr/>
        </p:nvSpPr>
        <p:spPr>
          <a:xfrm>
            <a:off x="4764024" y="1874520"/>
            <a:ext cx="2011680" cy="201168"/>
          </a:xfrm>
          <a:prstGeom prst="rect">
            <a:avLst/>
          </a:prstGeom>
          <a:noFill/>
          <a:ln/>
        </p:spPr>
        <p:txBody>
          <a:bodyPr wrap="square" lIns="0" tIns="0" rIns="0" bIns="0"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embedded</a:t>
            </a:r>
            <a:endParaRPr lang="en-US" sz="1000" dirty="0"/>
          </a:p>
        </p:txBody>
      </p:sp>
      <p:sp>
        <p:nvSpPr>
          <p:cNvPr id="16" name="Shape 14"/>
          <p:cNvSpPr/>
          <p:nvPr/>
        </p:nvSpPr>
        <p:spPr>
          <a:xfrm>
            <a:off x="6940296" y="822960"/>
            <a:ext cx="2011680" cy="1234440"/>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7" name="Text 15"/>
          <p:cNvSpPr/>
          <p:nvPr/>
        </p:nvSpPr>
        <p:spPr>
          <a:xfrm>
            <a:off x="6940296" y="822960"/>
            <a:ext cx="2011680" cy="822960"/>
          </a:xfrm>
          <a:prstGeom prst="rect">
            <a:avLst/>
          </a:prstGeom>
          <a:noFill/>
          <a:ln/>
        </p:spPr>
        <p:txBody>
          <a:bodyPr wrap="square" lIns="0" tIns="0" rIns="0" bIns="0" rtlCol="0" anchor="b"/>
          <a:lstStyle/>
          <a:p>
            <a:pPr algn="ctr" indent="0" marL="0">
              <a:buNone/>
            </a:pPr>
            <a:r>
              <a:rPr lang="en-US" sz="4200" b="1" dirty="0">
                <a:solidFill>
                  <a:srgbClr val="C41230"/>
                </a:solidFill>
                <a:latin typeface="Georgia" pitchFamily="34" charset="0"/>
                <a:ea typeface="Georgia" pitchFamily="34" charset="-122"/>
                <a:cs typeface="Georgia" pitchFamily="34" charset="-120"/>
              </a:rPr>
              <a:t>3</a:t>
            </a:r>
            <a:endParaRPr lang="en-US" sz="4200" dirty="0"/>
          </a:p>
        </p:txBody>
      </p:sp>
      <p:sp>
        <p:nvSpPr>
          <p:cNvPr id="18" name="Text 16"/>
          <p:cNvSpPr/>
          <p:nvPr/>
        </p:nvSpPr>
        <p:spPr>
          <a:xfrm>
            <a:off x="6940296" y="1627632"/>
            <a:ext cx="2011680"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Calibri" pitchFamily="34" charset="0"/>
                <a:ea typeface="Calibri" pitchFamily="34" charset="-122"/>
                <a:cs typeface="Calibri" pitchFamily="34" charset="-120"/>
              </a:rPr>
              <a:t>Iterations</a:t>
            </a:r>
            <a:endParaRPr lang="en-US" sz="1200" dirty="0"/>
          </a:p>
        </p:txBody>
      </p:sp>
      <p:sp>
        <p:nvSpPr>
          <p:cNvPr id="19" name="Text 17"/>
          <p:cNvSpPr/>
          <p:nvPr/>
        </p:nvSpPr>
        <p:spPr>
          <a:xfrm>
            <a:off x="6940296" y="1874520"/>
            <a:ext cx="2011680" cy="201168"/>
          </a:xfrm>
          <a:prstGeom prst="rect">
            <a:avLst/>
          </a:prstGeom>
          <a:noFill/>
          <a:ln/>
        </p:spPr>
        <p:txBody>
          <a:bodyPr wrap="square" lIns="0" tIns="0" rIns="0" bIns="0"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based on test findings</a:t>
            </a:r>
            <a:endParaRPr lang="en-US" sz="1000" dirty="0"/>
          </a:p>
        </p:txBody>
      </p:sp>
      <p:sp>
        <p:nvSpPr>
          <p:cNvPr id="20" name="Text 18"/>
          <p:cNvSpPr/>
          <p:nvPr/>
        </p:nvSpPr>
        <p:spPr>
          <a:xfrm>
            <a:off x="594360" y="2240280"/>
            <a:ext cx="4572000" cy="32004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Evidence of Iteration</a:t>
            </a:r>
            <a:endParaRPr lang="en-US" sz="1400" dirty="0"/>
          </a:p>
        </p:txBody>
      </p:sp>
      <p:sp>
        <p:nvSpPr>
          <p:cNvPr id="21" name="Shape 19"/>
          <p:cNvSpPr/>
          <p:nvPr/>
        </p:nvSpPr>
        <p:spPr>
          <a:xfrm>
            <a:off x="411480" y="2240280"/>
            <a:ext cx="64008" cy="320040"/>
          </a:xfrm>
          <a:prstGeom prst="rect">
            <a:avLst/>
          </a:prstGeom>
          <a:solidFill>
            <a:srgbClr val="C41230"/>
          </a:solidFill>
          <a:ln w="12700">
            <a:solidFill>
              <a:srgbClr val="C41230"/>
            </a:solidFill>
            <a:prstDash val="solid"/>
          </a:ln>
        </p:spPr>
      </p:sp>
      <p:sp>
        <p:nvSpPr>
          <p:cNvPr id="22" name="Shape 20"/>
          <p:cNvSpPr/>
          <p:nvPr/>
        </p:nvSpPr>
        <p:spPr>
          <a:xfrm>
            <a:off x="411480" y="2651760"/>
            <a:ext cx="8321040" cy="658368"/>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23" name="Text 21"/>
          <p:cNvSpPr/>
          <p:nvPr/>
        </p:nvSpPr>
        <p:spPr>
          <a:xfrm>
            <a:off x="502920" y="2816352"/>
            <a:ext cx="1188720" cy="320040"/>
          </a:xfrm>
          <a:prstGeom prst="rect">
            <a:avLst/>
          </a:prstGeom>
          <a:noFill/>
          <a:ln/>
        </p:spPr>
        <p:txBody>
          <a:bodyPr wrap="square" lIns="0" tIns="0" rIns="0" bIns="0" rtlCol="0" anchor="ctr"/>
          <a:lstStyle/>
          <a:p>
            <a:pPr indent="0" marL="0">
              <a:buNone/>
            </a:pPr>
            <a:r>
              <a:rPr lang="en-US" sz="1100" b="1" dirty="0">
                <a:solidFill>
                  <a:srgbClr val="C41230"/>
                </a:solidFill>
                <a:latin typeface="Calibri" pitchFamily="34" charset="0"/>
                <a:ea typeface="Calibri" pitchFamily="34" charset="-122"/>
                <a:cs typeface="Calibri" pitchFamily="34" charset="-120"/>
              </a:rPr>
              <a:t>Iteration 1</a:t>
            </a:r>
            <a:endParaRPr lang="en-US" sz="1100" dirty="0"/>
          </a:p>
        </p:txBody>
      </p:sp>
      <p:sp>
        <p:nvSpPr>
          <p:cNvPr id="24" name="Text 22"/>
          <p:cNvSpPr/>
          <p:nvPr/>
        </p:nvSpPr>
        <p:spPr>
          <a:xfrm>
            <a:off x="1783080" y="2816352"/>
            <a:ext cx="3108960" cy="32004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Keyword retrieval failed on paraphrased questions</a:t>
            </a:r>
            <a:endParaRPr lang="en-US" sz="1100" dirty="0"/>
          </a:p>
        </p:txBody>
      </p:sp>
      <p:sp>
        <p:nvSpPr>
          <p:cNvPr id="25" name="Text 23"/>
          <p:cNvSpPr/>
          <p:nvPr/>
        </p:nvSpPr>
        <p:spPr>
          <a:xfrm>
            <a:off x="5029200" y="2816352"/>
            <a:ext cx="3520440" cy="320040"/>
          </a:xfrm>
          <a:prstGeom prst="rect">
            <a:avLst/>
          </a:prstGeom>
          <a:noFill/>
          <a:ln/>
        </p:spPr>
        <p:txBody>
          <a:bodyPr wrap="square" lIns="0" tIns="0" rIns="0" bIns="0" rtlCol="0" anchor="ctr"/>
          <a:lstStyle/>
          <a:p>
            <a:pPr indent="0" marL="0">
              <a:buNone/>
            </a:pPr>
            <a:r>
              <a:rPr lang="en-US" sz="1100" dirty="0">
                <a:solidFill>
                  <a:srgbClr val="2E7D32"/>
                </a:solidFill>
                <a:latin typeface="Calibri" pitchFamily="34" charset="0"/>
                <a:ea typeface="Calibri" pitchFamily="34" charset="-122"/>
                <a:cs typeface="Calibri" pitchFamily="34" charset="-120"/>
              </a:rPr>
              <a:t>→  Upgraded to transformer embeddings + cosine similarity</a:t>
            </a:r>
            <a:endParaRPr lang="en-US" sz="1100" dirty="0"/>
          </a:p>
        </p:txBody>
      </p:sp>
      <p:sp>
        <p:nvSpPr>
          <p:cNvPr id="26" name="Shape 24"/>
          <p:cNvSpPr/>
          <p:nvPr/>
        </p:nvSpPr>
        <p:spPr>
          <a:xfrm>
            <a:off x="411480" y="3401568"/>
            <a:ext cx="8321040" cy="658368"/>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27" name="Text 25"/>
          <p:cNvSpPr/>
          <p:nvPr/>
        </p:nvSpPr>
        <p:spPr>
          <a:xfrm>
            <a:off x="502920" y="3566160"/>
            <a:ext cx="1188720" cy="320040"/>
          </a:xfrm>
          <a:prstGeom prst="rect">
            <a:avLst/>
          </a:prstGeom>
          <a:noFill/>
          <a:ln/>
        </p:spPr>
        <p:txBody>
          <a:bodyPr wrap="square" lIns="0" tIns="0" rIns="0" bIns="0" rtlCol="0" anchor="ctr"/>
          <a:lstStyle/>
          <a:p>
            <a:pPr indent="0" marL="0">
              <a:buNone/>
            </a:pPr>
            <a:r>
              <a:rPr lang="en-US" sz="1100" b="1" dirty="0">
                <a:solidFill>
                  <a:srgbClr val="C41230"/>
                </a:solidFill>
                <a:latin typeface="Calibri" pitchFamily="34" charset="0"/>
                <a:ea typeface="Calibri" pitchFamily="34" charset="-122"/>
                <a:cs typeface="Calibri" pitchFamily="34" charset="-120"/>
              </a:rPr>
              <a:t>Iteration 2</a:t>
            </a:r>
            <a:endParaRPr lang="en-US" sz="1100" dirty="0"/>
          </a:p>
        </p:txBody>
      </p:sp>
      <p:sp>
        <p:nvSpPr>
          <p:cNvPr id="28" name="Text 26"/>
          <p:cNvSpPr/>
          <p:nvPr/>
        </p:nvSpPr>
        <p:spPr>
          <a:xfrm>
            <a:off x="1783080" y="3566160"/>
            <a:ext cx="3108960" cy="32004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Duplicate lines inflated keyword scores</a:t>
            </a:r>
            <a:endParaRPr lang="en-US" sz="1100" dirty="0"/>
          </a:p>
        </p:txBody>
      </p:sp>
      <p:sp>
        <p:nvSpPr>
          <p:cNvPr id="29" name="Text 27"/>
          <p:cNvSpPr/>
          <p:nvPr/>
        </p:nvSpPr>
        <p:spPr>
          <a:xfrm>
            <a:off x="5029200" y="3566160"/>
            <a:ext cx="3520440" cy="320040"/>
          </a:xfrm>
          <a:prstGeom prst="rect">
            <a:avLst/>
          </a:prstGeom>
          <a:noFill/>
          <a:ln/>
        </p:spPr>
        <p:txBody>
          <a:bodyPr wrap="square" lIns="0" tIns="0" rIns="0" bIns="0" rtlCol="0" anchor="ctr"/>
          <a:lstStyle/>
          <a:p>
            <a:pPr indent="0" marL="0">
              <a:buNone/>
            </a:pPr>
            <a:r>
              <a:rPr lang="en-US" sz="1100" dirty="0">
                <a:solidFill>
                  <a:srgbClr val="2E7D32"/>
                </a:solidFill>
                <a:latin typeface="Calibri" pitchFamily="34" charset="0"/>
                <a:ea typeface="Calibri" pitchFamily="34" charset="-122"/>
                <a:cs typeface="Calibri" pitchFamily="34" charset="-120"/>
              </a:rPr>
              <a:t>→  Built automated data-cleaning pipeline (fixed 28 issues)</a:t>
            </a:r>
            <a:endParaRPr lang="en-US" sz="1100" dirty="0"/>
          </a:p>
        </p:txBody>
      </p:sp>
      <p:sp>
        <p:nvSpPr>
          <p:cNvPr id="30" name="Shape 28"/>
          <p:cNvSpPr/>
          <p:nvPr/>
        </p:nvSpPr>
        <p:spPr>
          <a:xfrm>
            <a:off x="411480" y="4151376"/>
            <a:ext cx="8321040" cy="658368"/>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31" name="Text 29"/>
          <p:cNvSpPr/>
          <p:nvPr/>
        </p:nvSpPr>
        <p:spPr>
          <a:xfrm>
            <a:off x="502920" y="4315968"/>
            <a:ext cx="1188720" cy="320040"/>
          </a:xfrm>
          <a:prstGeom prst="rect">
            <a:avLst/>
          </a:prstGeom>
          <a:noFill/>
          <a:ln/>
        </p:spPr>
        <p:txBody>
          <a:bodyPr wrap="square" lIns="0" tIns="0" rIns="0" bIns="0" rtlCol="0" anchor="ctr"/>
          <a:lstStyle/>
          <a:p>
            <a:pPr indent="0" marL="0">
              <a:buNone/>
            </a:pPr>
            <a:r>
              <a:rPr lang="en-US" sz="1100" b="1" dirty="0">
                <a:solidFill>
                  <a:srgbClr val="C41230"/>
                </a:solidFill>
                <a:latin typeface="Calibri" pitchFamily="34" charset="0"/>
                <a:ea typeface="Calibri" pitchFamily="34" charset="-122"/>
                <a:cs typeface="Calibri" pitchFamily="34" charset="-120"/>
              </a:rPr>
              <a:t>Iteration 3</a:t>
            </a:r>
            <a:endParaRPr lang="en-US" sz="1100" dirty="0"/>
          </a:p>
        </p:txBody>
      </p:sp>
      <p:sp>
        <p:nvSpPr>
          <p:cNvPr id="32" name="Text 30"/>
          <p:cNvSpPr/>
          <p:nvPr/>
        </p:nvSpPr>
        <p:spPr>
          <a:xfrm>
            <a:off x="1783080" y="4315968"/>
            <a:ext cx="3108960" cy="32004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Server crashed without API keys</a:t>
            </a:r>
            <a:endParaRPr lang="en-US" sz="1100" dirty="0"/>
          </a:p>
        </p:txBody>
      </p:sp>
      <p:sp>
        <p:nvSpPr>
          <p:cNvPr id="33" name="Text 31"/>
          <p:cNvSpPr/>
          <p:nvPr/>
        </p:nvSpPr>
        <p:spPr>
          <a:xfrm>
            <a:off x="5029200" y="4315968"/>
            <a:ext cx="3520440" cy="320040"/>
          </a:xfrm>
          <a:prstGeom prst="rect">
            <a:avLst/>
          </a:prstGeom>
          <a:noFill/>
          <a:ln/>
        </p:spPr>
        <p:txBody>
          <a:bodyPr wrap="square" lIns="0" tIns="0" rIns="0" bIns="0" rtlCol="0" anchor="ctr"/>
          <a:lstStyle/>
          <a:p>
            <a:pPr indent="0" marL="0">
              <a:buNone/>
            </a:pPr>
            <a:r>
              <a:rPr lang="en-US" sz="1100" dirty="0">
                <a:solidFill>
                  <a:srgbClr val="2E7D32"/>
                </a:solidFill>
                <a:latin typeface="Calibri" pitchFamily="34" charset="0"/>
                <a:ea typeface="Calibri" pitchFamily="34" charset="-122"/>
                <a:cs typeface="Calibri" pitchFamily="34" charset="-120"/>
              </a:rPr>
              <a:t>→  Implemented fallback: semantic → keyword → raw KB excerpt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Limitations &amp; Next Steps</a:t>
            </a:r>
            <a:endParaRPr lang="en-US" sz="2200" dirty="0"/>
          </a:p>
        </p:txBody>
      </p:sp>
      <p:sp>
        <p:nvSpPr>
          <p:cNvPr id="4" name="Shape 2"/>
          <p:cNvSpPr/>
          <p:nvPr/>
        </p:nvSpPr>
        <p:spPr>
          <a:xfrm>
            <a:off x="411480" y="822960"/>
            <a:ext cx="4023360" cy="4023360"/>
          </a:xfrm>
          <a:prstGeom prst="rect">
            <a:avLst/>
          </a:prstGeom>
          <a:solidFill>
            <a:srgbClr val="FFF8F8"/>
          </a:solidFill>
          <a:ln w="6350">
            <a:solidFill>
              <a:srgbClr val="FFCDD2"/>
            </a:solidFill>
            <a:prstDash val="solid"/>
          </a:ln>
          <a:effectLst>
            <a:outerShdw sx="100000" sy="100000" kx="0" ky="0" algn="bl" rotWithShape="0" blurRad="76200" dist="25400" dir="8100000">
              <a:srgbClr val="000000">
                <a:alpha val="7000"/>
              </a:srgbClr>
            </a:outerShdw>
          </a:effectLst>
        </p:spPr>
      </p:sp>
      <p:sp>
        <p:nvSpPr>
          <p:cNvPr id="5" name="Text 3"/>
          <p:cNvSpPr/>
          <p:nvPr/>
        </p:nvSpPr>
        <p:spPr>
          <a:xfrm>
            <a:off x="548640" y="896112"/>
            <a:ext cx="3749040" cy="365760"/>
          </a:xfrm>
          <a:prstGeom prst="rect">
            <a:avLst/>
          </a:prstGeom>
          <a:noFill/>
          <a:ln/>
        </p:spPr>
        <p:txBody>
          <a:bodyPr wrap="square" lIns="0" tIns="0" rIns="0" bIns="0" rtlCol="0" anchor="ctr"/>
          <a:lstStyle/>
          <a:p>
            <a:pPr indent="0" marL="0">
              <a:buNone/>
            </a:pPr>
            <a:r>
              <a:rPr lang="en-US" sz="1400" b="1" dirty="0">
                <a:solidFill>
                  <a:srgbClr val="C41230"/>
                </a:solidFill>
                <a:latin typeface="Georgia" pitchFamily="34" charset="0"/>
                <a:ea typeface="Georgia" pitchFamily="34" charset="-122"/>
                <a:cs typeface="Georgia" pitchFamily="34" charset="-120"/>
              </a:rPr>
              <a:t>Current Limitations</a:t>
            </a:r>
            <a:endParaRPr lang="en-US" sz="1400" dirty="0"/>
          </a:p>
        </p:txBody>
      </p:sp>
      <p:sp>
        <p:nvSpPr>
          <p:cNvPr id="6" name="Text 4"/>
          <p:cNvSpPr/>
          <p:nvPr/>
        </p:nvSpPr>
        <p:spPr>
          <a:xfrm>
            <a:off x="594360" y="1389888"/>
            <a:ext cx="3749040" cy="310896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Embeddings are in-memory — lost on restart</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Knowledge base requires manual updates</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No user accounts — history is browser-only</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Rate limits on HuggingFace free tier</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LiveAvatar API deprecated by vendor</a:t>
            </a:r>
            <a:endParaRPr lang="en-US" sz="1200" dirty="0"/>
          </a:p>
        </p:txBody>
      </p:sp>
      <p:sp>
        <p:nvSpPr>
          <p:cNvPr id="7" name="Shape 5"/>
          <p:cNvSpPr/>
          <p:nvPr/>
        </p:nvSpPr>
        <p:spPr>
          <a:xfrm>
            <a:off x="4709160" y="822960"/>
            <a:ext cx="4023360" cy="4023360"/>
          </a:xfrm>
          <a:prstGeom prst="rect">
            <a:avLst/>
          </a:prstGeom>
          <a:solidFill>
            <a:srgbClr val="F0FFF4"/>
          </a:solidFill>
          <a:ln w="6350">
            <a:solidFill>
              <a:srgbClr val="C8E6C9"/>
            </a:solidFill>
            <a:prstDash val="solid"/>
          </a:ln>
          <a:effectLst>
            <a:outerShdw sx="100000" sy="100000" kx="0" ky="0" algn="bl" rotWithShape="0" blurRad="76200" dist="25400" dir="8100000">
              <a:srgbClr val="000000">
                <a:alpha val="7000"/>
              </a:srgbClr>
            </a:outerShdw>
          </a:effectLst>
        </p:spPr>
      </p:sp>
      <p:sp>
        <p:nvSpPr>
          <p:cNvPr id="8" name="Text 6"/>
          <p:cNvSpPr/>
          <p:nvPr/>
        </p:nvSpPr>
        <p:spPr>
          <a:xfrm>
            <a:off x="4846320" y="896112"/>
            <a:ext cx="3749040" cy="365760"/>
          </a:xfrm>
          <a:prstGeom prst="rect">
            <a:avLst/>
          </a:prstGeom>
          <a:noFill/>
          <a:ln/>
        </p:spPr>
        <p:txBody>
          <a:bodyPr wrap="square" lIns="0" tIns="0" rIns="0" bIns="0" rtlCol="0" anchor="ctr"/>
          <a:lstStyle/>
          <a:p>
            <a:pPr indent="0" marL="0">
              <a:buNone/>
            </a:pPr>
            <a:r>
              <a:rPr lang="en-US" sz="1400" b="1" dirty="0">
                <a:solidFill>
                  <a:srgbClr val="2E7D32"/>
                </a:solidFill>
                <a:latin typeface="Georgia" pitchFamily="34" charset="0"/>
                <a:ea typeface="Georgia" pitchFamily="34" charset="-122"/>
                <a:cs typeface="Georgia" pitchFamily="34" charset="-120"/>
              </a:rPr>
              <a:t>Next Steps</a:t>
            </a:r>
            <a:endParaRPr lang="en-US" sz="1400" dirty="0"/>
          </a:p>
        </p:txBody>
      </p:sp>
      <p:sp>
        <p:nvSpPr>
          <p:cNvPr id="9" name="Text 7"/>
          <p:cNvSpPr/>
          <p:nvPr/>
        </p:nvSpPr>
        <p:spPr>
          <a:xfrm>
            <a:off x="4846320" y="1389888"/>
            <a:ext cx="3749040" cy="310896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ChromaDB or Pinecone for persistent vectors</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Automated KB scraper for scotty.qatar.cmu.edu</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Expand KB: housing, clubs, IT, counselling</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Thumbs up/down feedback loop</a:t>
            </a:r>
            <a:endParaRPr lang="en-US" sz="1200" dirty="0"/>
          </a:p>
          <a:p>
            <a:pPr marL="342900" indent="-342900">
              <a:spcAft>
                <a:spcPts val="1000"/>
              </a:spcAft>
              <a:buSzPct val="100000"/>
              <a:buChar char="•"/>
            </a:pPr>
            <a:r>
              <a:rPr lang="en-US" sz="1200" dirty="0">
                <a:solidFill>
                  <a:srgbClr val="1A1A1A"/>
                </a:solidFill>
                <a:latin typeface="Calibri" pitchFamily="34" charset="0"/>
                <a:ea typeface="Calibri" pitchFamily="34" charset="-122"/>
                <a:cs typeface="Calibri" pitchFamily="34" charset="-120"/>
              </a:rPr>
              <a:t>Docker + cloud deployment for all students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92608"/>
            <a:ext cx="64008" cy="411480"/>
          </a:xfrm>
          <a:prstGeom prst="rect">
            <a:avLst/>
          </a:prstGeom>
          <a:solidFill>
            <a:srgbClr val="C41230"/>
          </a:solidFill>
          <a:ln w="12700">
            <a:solidFill>
              <a:srgbClr val="C41230"/>
            </a:solidFill>
            <a:prstDash val="solid"/>
          </a:ln>
        </p:spPr>
      </p:sp>
      <p:sp>
        <p:nvSpPr>
          <p:cNvPr id="3" name="Text 1"/>
          <p:cNvSpPr/>
          <p:nvPr/>
        </p:nvSpPr>
        <p:spPr>
          <a:xfrm>
            <a:off x="594360" y="292608"/>
            <a:ext cx="8229600" cy="411480"/>
          </a:xfrm>
          <a:prstGeom prst="rect">
            <a:avLst/>
          </a:prstGeom>
          <a:noFill/>
          <a:ln/>
        </p:spPr>
        <p:txBody>
          <a:bodyPr wrap="square" lIns="0" tIns="0" rIns="0" bIns="0" rtlCol="0" anchor="ctr"/>
          <a:lstStyle/>
          <a:p>
            <a:pPr indent="0" marL="0">
              <a:buNone/>
            </a:pPr>
            <a:r>
              <a:rPr lang="en-US" sz="2200" b="1" dirty="0">
                <a:solidFill>
                  <a:srgbClr val="1A1A1A"/>
                </a:solidFill>
                <a:latin typeface="Georgia" pitchFamily="34" charset="0"/>
                <a:ea typeface="Georgia" pitchFamily="34" charset="-122"/>
                <a:cs typeface="Georgia" pitchFamily="34" charset="-120"/>
              </a:rPr>
              <a:t>What We Demonstrated</a:t>
            </a:r>
            <a:endParaRPr lang="en-US" sz="2200" dirty="0"/>
          </a:p>
        </p:txBody>
      </p:sp>
      <p:sp>
        <p:nvSpPr>
          <p:cNvPr id="4" name="Shape 2"/>
          <p:cNvSpPr/>
          <p:nvPr/>
        </p:nvSpPr>
        <p:spPr>
          <a:xfrm>
            <a:off x="411480" y="914400"/>
            <a:ext cx="8321040" cy="713232"/>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5" name="Shape 3"/>
          <p:cNvSpPr/>
          <p:nvPr/>
        </p:nvSpPr>
        <p:spPr>
          <a:xfrm>
            <a:off x="502920" y="1115568"/>
            <a:ext cx="320040" cy="320040"/>
          </a:xfrm>
          <a:prstGeom prst="ellipse">
            <a:avLst/>
          </a:prstGeom>
          <a:solidFill>
            <a:srgbClr val="C41230"/>
          </a:solidFill>
          <a:ln w="12700">
            <a:solidFill>
              <a:srgbClr val="C41230"/>
            </a:solidFill>
            <a:prstDash val="solid"/>
          </a:ln>
        </p:spPr>
      </p:sp>
      <p:sp>
        <p:nvSpPr>
          <p:cNvPr id="6" name="Text 4"/>
          <p:cNvSpPr/>
          <p:nvPr/>
        </p:nvSpPr>
        <p:spPr>
          <a:xfrm>
            <a:off x="502920" y="1115568"/>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987552" y="987552"/>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Functional prototype</a:t>
            </a:r>
            <a:endParaRPr lang="en-US" sz="1300" dirty="0"/>
          </a:p>
        </p:txBody>
      </p:sp>
      <p:sp>
        <p:nvSpPr>
          <p:cNvPr id="8" name="Text 6"/>
          <p:cNvSpPr/>
          <p:nvPr/>
        </p:nvSpPr>
        <p:spPr>
          <a:xfrm>
            <a:off x="987552" y="1298448"/>
            <a:ext cx="7223760" cy="256032"/>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Four working modes, live RAG pipeline, voice I/O, typo correction — all running locally.</a:t>
            </a:r>
            <a:endParaRPr lang="en-US" sz="1150" dirty="0"/>
          </a:p>
        </p:txBody>
      </p:sp>
      <p:sp>
        <p:nvSpPr>
          <p:cNvPr id="9" name="Shape 7"/>
          <p:cNvSpPr/>
          <p:nvPr/>
        </p:nvSpPr>
        <p:spPr>
          <a:xfrm>
            <a:off x="411480" y="1728216"/>
            <a:ext cx="8321040" cy="713232"/>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0" name="Shape 8"/>
          <p:cNvSpPr/>
          <p:nvPr/>
        </p:nvSpPr>
        <p:spPr>
          <a:xfrm>
            <a:off x="502920" y="1929384"/>
            <a:ext cx="320040" cy="320040"/>
          </a:xfrm>
          <a:prstGeom prst="ellipse">
            <a:avLst/>
          </a:prstGeom>
          <a:solidFill>
            <a:srgbClr val="C41230"/>
          </a:solidFill>
          <a:ln w="12700">
            <a:solidFill>
              <a:srgbClr val="C41230"/>
            </a:solidFill>
            <a:prstDash val="solid"/>
          </a:ln>
        </p:spPr>
      </p:sp>
      <p:sp>
        <p:nvSpPr>
          <p:cNvPr id="11" name="Text 9"/>
          <p:cNvSpPr/>
          <p:nvPr/>
        </p:nvSpPr>
        <p:spPr>
          <a:xfrm>
            <a:off x="502920" y="1929384"/>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987552" y="1801368"/>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Deep emerging tech use</a:t>
            </a:r>
            <a:endParaRPr lang="en-US" sz="1300" dirty="0"/>
          </a:p>
        </p:txBody>
      </p:sp>
      <p:sp>
        <p:nvSpPr>
          <p:cNvPr id="13" name="Text 11"/>
          <p:cNvSpPr/>
          <p:nvPr/>
        </p:nvSpPr>
        <p:spPr>
          <a:xfrm>
            <a:off x="987552" y="2112264"/>
            <a:ext cx="7223760" cy="256032"/>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Transformer embeddings, cosine similarity retrieval, Levenshtein fuzzy correction, Web Speech API.</a:t>
            </a:r>
            <a:endParaRPr lang="en-US" sz="1150" dirty="0"/>
          </a:p>
        </p:txBody>
      </p:sp>
      <p:sp>
        <p:nvSpPr>
          <p:cNvPr id="14" name="Shape 12"/>
          <p:cNvSpPr/>
          <p:nvPr/>
        </p:nvSpPr>
        <p:spPr>
          <a:xfrm>
            <a:off x="411480" y="2542032"/>
            <a:ext cx="8321040" cy="713232"/>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15" name="Shape 13"/>
          <p:cNvSpPr/>
          <p:nvPr/>
        </p:nvSpPr>
        <p:spPr>
          <a:xfrm>
            <a:off x="502920" y="2743200"/>
            <a:ext cx="320040" cy="320040"/>
          </a:xfrm>
          <a:prstGeom prst="ellipse">
            <a:avLst/>
          </a:prstGeom>
          <a:solidFill>
            <a:srgbClr val="C41230"/>
          </a:solidFill>
          <a:ln w="12700">
            <a:solidFill>
              <a:srgbClr val="C41230"/>
            </a:solidFill>
            <a:prstDash val="solid"/>
          </a:ln>
        </p:spPr>
      </p:sp>
      <p:sp>
        <p:nvSpPr>
          <p:cNvPr id="16" name="Text 14"/>
          <p:cNvSpPr/>
          <p:nvPr/>
        </p:nvSpPr>
        <p:spPr>
          <a:xfrm>
            <a:off x="502920" y="2743200"/>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87552" y="2615184"/>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Grounded, honest AI</a:t>
            </a:r>
            <a:endParaRPr lang="en-US" sz="1300" dirty="0"/>
          </a:p>
        </p:txBody>
      </p:sp>
      <p:sp>
        <p:nvSpPr>
          <p:cNvPr id="18" name="Text 16"/>
          <p:cNvSpPr/>
          <p:nvPr/>
        </p:nvSpPr>
        <p:spPr>
          <a:xfrm>
            <a:off x="987552" y="2926080"/>
            <a:ext cx="7223760" cy="256032"/>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Scotty answers from official CMU-Q data. It says 'I don't know' when the answer isn't in the KB.</a:t>
            </a:r>
            <a:endParaRPr lang="en-US" sz="1150" dirty="0"/>
          </a:p>
        </p:txBody>
      </p:sp>
      <p:sp>
        <p:nvSpPr>
          <p:cNvPr id="19" name="Shape 17"/>
          <p:cNvSpPr/>
          <p:nvPr/>
        </p:nvSpPr>
        <p:spPr>
          <a:xfrm>
            <a:off x="411480" y="3355848"/>
            <a:ext cx="8321040" cy="713232"/>
          </a:xfrm>
          <a:prstGeom prst="rect">
            <a:avLst/>
          </a:prstGeom>
          <a:solidFill>
            <a:srgbClr val="FFFFFF"/>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20" name="Shape 18"/>
          <p:cNvSpPr/>
          <p:nvPr/>
        </p:nvSpPr>
        <p:spPr>
          <a:xfrm>
            <a:off x="502920" y="3557016"/>
            <a:ext cx="320040" cy="320040"/>
          </a:xfrm>
          <a:prstGeom prst="ellipse">
            <a:avLst/>
          </a:prstGeom>
          <a:solidFill>
            <a:srgbClr val="C41230"/>
          </a:solidFill>
          <a:ln w="12700">
            <a:solidFill>
              <a:srgbClr val="C41230"/>
            </a:solidFill>
            <a:prstDash val="solid"/>
          </a:ln>
        </p:spPr>
      </p:sp>
      <p:sp>
        <p:nvSpPr>
          <p:cNvPr id="21" name="Text 19"/>
          <p:cNvSpPr/>
          <p:nvPr/>
        </p:nvSpPr>
        <p:spPr>
          <a:xfrm>
            <a:off x="502920" y="3557016"/>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987552" y="3429000"/>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Evidence of iteration</a:t>
            </a:r>
            <a:endParaRPr lang="en-US" sz="1300" dirty="0"/>
          </a:p>
        </p:txBody>
      </p:sp>
      <p:sp>
        <p:nvSpPr>
          <p:cNvPr id="23" name="Text 21"/>
          <p:cNvSpPr/>
          <p:nvPr/>
        </p:nvSpPr>
        <p:spPr>
          <a:xfrm>
            <a:off x="987552" y="3739896"/>
            <a:ext cx="7223760" cy="256032"/>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35 tests, 3 documented iterations, data cleaning pipeline — not just a first build.</a:t>
            </a:r>
            <a:endParaRPr lang="en-US" sz="1150" dirty="0"/>
          </a:p>
        </p:txBody>
      </p:sp>
      <p:sp>
        <p:nvSpPr>
          <p:cNvPr id="24" name="Shape 22"/>
          <p:cNvSpPr/>
          <p:nvPr/>
        </p:nvSpPr>
        <p:spPr>
          <a:xfrm>
            <a:off x="411480" y="4169664"/>
            <a:ext cx="8321040" cy="713232"/>
          </a:xfrm>
          <a:prstGeom prst="rect">
            <a:avLst/>
          </a:prstGeom>
          <a:solidFill>
            <a:srgbClr val="F0F0F0"/>
          </a:solidFill>
          <a:ln w="6350">
            <a:solidFill>
              <a:srgbClr val="E0E0E0"/>
            </a:solidFill>
            <a:prstDash val="solid"/>
          </a:ln>
          <a:effectLst>
            <a:outerShdw sx="100000" sy="100000" kx="0" ky="0" algn="bl" rotWithShape="0" blurRad="76200" dist="25400" dir="8100000">
              <a:srgbClr val="000000">
                <a:alpha val="7000"/>
              </a:srgbClr>
            </a:outerShdw>
          </a:effectLst>
        </p:spPr>
      </p:sp>
      <p:sp>
        <p:nvSpPr>
          <p:cNvPr id="25" name="Shape 23"/>
          <p:cNvSpPr/>
          <p:nvPr/>
        </p:nvSpPr>
        <p:spPr>
          <a:xfrm>
            <a:off x="502920" y="4370832"/>
            <a:ext cx="320040" cy="320040"/>
          </a:xfrm>
          <a:prstGeom prst="ellipse">
            <a:avLst/>
          </a:prstGeom>
          <a:solidFill>
            <a:srgbClr val="C41230"/>
          </a:solidFill>
          <a:ln w="12700">
            <a:solidFill>
              <a:srgbClr val="C41230"/>
            </a:solidFill>
            <a:prstDash val="solid"/>
          </a:ln>
        </p:spPr>
      </p:sp>
      <p:sp>
        <p:nvSpPr>
          <p:cNvPr id="26" name="Text 24"/>
          <p:cNvSpPr/>
          <p:nvPr/>
        </p:nvSpPr>
        <p:spPr>
          <a:xfrm>
            <a:off x="502920" y="4370832"/>
            <a:ext cx="3200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987552" y="4242816"/>
            <a:ext cx="3200400" cy="320040"/>
          </a:xfrm>
          <a:prstGeom prst="rect">
            <a:avLst/>
          </a:prstGeom>
          <a:noFill/>
          <a:ln/>
        </p:spPr>
        <p:txBody>
          <a:bodyPr wrap="square" lIns="0" tIns="0" rIns="0" bIns="0" rtlCol="0" anchor="ctr"/>
          <a:lstStyle/>
          <a:p>
            <a:pPr indent="0" marL="0">
              <a:buNone/>
            </a:pPr>
            <a:r>
              <a:rPr lang="en-US" sz="1300" b="1" dirty="0">
                <a:solidFill>
                  <a:srgbClr val="1A1A1A"/>
                </a:solidFill>
                <a:latin typeface="Georgia" pitchFamily="34" charset="0"/>
                <a:ea typeface="Georgia" pitchFamily="34" charset="-122"/>
                <a:cs typeface="Georgia" pitchFamily="34" charset="-120"/>
              </a:rPr>
              <a:t>Real student problem solved</a:t>
            </a:r>
            <a:endParaRPr lang="en-US" sz="1300" dirty="0"/>
          </a:p>
        </p:txBody>
      </p:sp>
      <p:sp>
        <p:nvSpPr>
          <p:cNvPr id="28" name="Text 26"/>
          <p:cNvSpPr/>
          <p:nvPr/>
        </p:nvSpPr>
        <p:spPr>
          <a:xfrm>
            <a:off x="987552" y="4553712"/>
            <a:ext cx="7223760" cy="256032"/>
          </a:xfrm>
          <a:prstGeom prst="rect">
            <a:avLst/>
          </a:prstGeom>
          <a:noFill/>
          <a:ln/>
        </p:spPr>
        <p:txBody>
          <a:bodyPr wrap="square" lIns="0" tIns="0" rIns="0" bIns="0" rtlCol="0" anchor="ctr"/>
          <a:lstStyle/>
          <a:p>
            <a:pPr indent="0" marL="0">
              <a:buNone/>
            </a:pPr>
            <a:r>
              <a:rPr lang="en-US" sz="1150" dirty="0">
                <a:solidFill>
                  <a:srgbClr val="444444"/>
                </a:solidFill>
                <a:latin typeface="Calibri" pitchFamily="34" charset="0"/>
                <a:ea typeface="Calibri" pitchFamily="34" charset="-122"/>
                <a:cs typeface="Calibri" pitchFamily="34" charset="-120"/>
              </a:rPr>
              <a:t>Students can ask CMU-Q questions at 2am and get a correct, sourced answer in seconds.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2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C41230"/>
          </a:solidFill>
          <a:ln w="12700">
            <a:solidFill>
              <a:srgbClr val="C41230"/>
            </a:solidFill>
            <a:prstDash val="solid"/>
          </a:ln>
        </p:spPr>
      </p:sp>
      <p:sp>
        <p:nvSpPr>
          <p:cNvPr id="3" name="Text 1"/>
          <p:cNvSpPr/>
          <p:nvPr/>
        </p:nvSpPr>
        <p:spPr>
          <a:xfrm>
            <a:off x="548640" y="1005840"/>
            <a:ext cx="8229600" cy="82296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Thank You</a:t>
            </a:r>
            <a:endParaRPr lang="en-US" sz="4600" dirty="0"/>
          </a:p>
        </p:txBody>
      </p:sp>
      <p:sp>
        <p:nvSpPr>
          <p:cNvPr id="4" name="Text 2"/>
          <p:cNvSpPr/>
          <p:nvPr/>
        </p:nvSpPr>
        <p:spPr>
          <a:xfrm>
            <a:off x="548640" y="1920240"/>
            <a:ext cx="5486400" cy="548640"/>
          </a:xfrm>
          <a:prstGeom prst="rect">
            <a:avLst/>
          </a:prstGeom>
          <a:noFill/>
          <a:ln/>
        </p:spPr>
        <p:txBody>
          <a:bodyPr wrap="square" lIns="0" tIns="0" rIns="0" bIns="0" rtlCol="0" anchor="ctr"/>
          <a:lstStyle/>
          <a:p>
            <a:pPr indent="0" marL="0">
              <a:buNone/>
            </a:pPr>
            <a:r>
              <a:rPr lang="en-US" sz="2800" i="1" dirty="0">
                <a:solidFill>
                  <a:srgbClr val="E8374F"/>
                </a:solidFill>
                <a:latin typeface="Georgia" pitchFamily="34" charset="0"/>
                <a:ea typeface="Georgia" pitchFamily="34" charset="-122"/>
                <a:cs typeface="Georgia" pitchFamily="34" charset="-120"/>
              </a:rPr>
              <a:t>Questions?</a:t>
            </a:r>
            <a:endParaRPr lang="en-US" sz="2800" dirty="0"/>
          </a:p>
        </p:txBody>
      </p:sp>
      <p:sp>
        <p:nvSpPr>
          <p:cNvPr id="5" name="Shape 3"/>
          <p:cNvSpPr/>
          <p:nvPr/>
        </p:nvSpPr>
        <p:spPr>
          <a:xfrm>
            <a:off x="548640" y="2606040"/>
            <a:ext cx="5029200" cy="27432"/>
          </a:xfrm>
          <a:prstGeom prst="rect">
            <a:avLst/>
          </a:prstGeom>
          <a:solidFill>
            <a:srgbClr val="FFFFFF">
              <a:alpha val="30000"/>
            </a:srgbClr>
          </a:solidFill>
          <a:ln w="12700">
            <a:solidFill>
              <a:srgbClr val="FFFFFF">
                <a:alpha val="30000"/>
              </a:srgbClr>
            </a:solidFill>
            <a:prstDash val="solid"/>
          </a:ln>
        </p:spPr>
      </p:sp>
      <p:sp>
        <p:nvSpPr>
          <p:cNvPr id="6" name="Text 4"/>
          <p:cNvSpPr/>
          <p:nvPr/>
        </p:nvSpPr>
        <p:spPr>
          <a:xfrm>
            <a:off x="548640" y="2788920"/>
            <a:ext cx="8229600" cy="320040"/>
          </a:xfrm>
          <a:prstGeom prst="rect">
            <a:avLst/>
          </a:prstGeom>
          <a:noFill/>
          <a:ln/>
        </p:spPr>
        <p:txBody>
          <a:bodyPr wrap="square" lIns="0" tIns="0" rIns="0" bIns="0" rtlCol="0" anchor="ctr"/>
          <a:lstStyle/>
          <a:p>
            <a:pPr indent="0" marL="0">
              <a:buNone/>
            </a:pPr>
            <a:r>
              <a:rPr lang="en-US" sz="1200" dirty="0">
                <a:solidFill>
                  <a:srgbClr val="FFFFFF">
                    <a:alpha val="75000"/>
                  </a:srgbClr>
                </a:solidFill>
                <a:latin typeface="Calibri" pitchFamily="34" charset="0"/>
                <a:ea typeface="Calibri" pitchFamily="34" charset="-122"/>
                <a:cs typeface="Calibri" pitchFamily="34" charset="-120"/>
              </a:rPr>
              <a:t>GitHub: github.com/cmu-q/tartan-scotty</a:t>
            </a:r>
            <a:endParaRPr lang="en-US" sz="1200" dirty="0"/>
          </a:p>
        </p:txBody>
      </p:sp>
      <p:sp>
        <p:nvSpPr>
          <p:cNvPr id="7" name="Text 5"/>
          <p:cNvSpPr/>
          <p:nvPr/>
        </p:nvSpPr>
        <p:spPr>
          <a:xfrm>
            <a:off x="548640" y="3172968"/>
            <a:ext cx="8229600" cy="320040"/>
          </a:xfrm>
          <a:prstGeom prst="rect">
            <a:avLst/>
          </a:prstGeom>
          <a:noFill/>
          <a:ln/>
        </p:spPr>
        <p:txBody>
          <a:bodyPr wrap="square" lIns="0" tIns="0" rIns="0" bIns="0" rtlCol="0" anchor="ctr"/>
          <a:lstStyle/>
          <a:p>
            <a:pPr indent="0" marL="0">
              <a:buNone/>
            </a:pPr>
            <a:r>
              <a:rPr lang="en-US" sz="1200" dirty="0">
                <a:solidFill>
                  <a:srgbClr val="FFFFFF">
                    <a:alpha val="75000"/>
                  </a:srgbClr>
                </a:solidFill>
                <a:latin typeface="Calibri" pitchFamily="34" charset="0"/>
                <a:ea typeface="Calibri" pitchFamily="34" charset="-122"/>
                <a:cs typeface="Calibri" pitchFamily="34" charset="-120"/>
              </a:rPr>
              <a:t>Live portal: scotty.qatar.cmu.edu</a:t>
            </a:r>
            <a:endParaRPr lang="en-US" sz="1200" dirty="0"/>
          </a:p>
        </p:txBody>
      </p:sp>
      <p:sp>
        <p:nvSpPr>
          <p:cNvPr id="8" name="Text 6"/>
          <p:cNvSpPr/>
          <p:nvPr/>
        </p:nvSpPr>
        <p:spPr>
          <a:xfrm>
            <a:off x="548640" y="3557016"/>
            <a:ext cx="8229600" cy="320040"/>
          </a:xfrm>
          <a:prstGeom prst="rect">
            <a:avLst/>
          </a:prstGeom>
          <a:noFill/>
          <a:ln/>
        </p:spPr>
        <p:txBody>
          <a:bodyPr wrap="square" lIns="0" tIns="0" rIns="0" bIns="0" rtlCol="0" anchor="ctr"/>
          <a:lstStyle/>
          <a:p>
            <a:pPr indent="0" marL="0">
              <a:buNone/>
            </a:pPr>
            <a:r>
              <a:rPr lang="en-US" sz="1200" dirty="0">
                <a:solidFill>
                  <a:srgbClr val="FFFFFF">
                    <a:alpha val="75000"/>
                  </a:srgbClr>
                </a:solidFill>
                <a:latin typeface="Calibri" pitchFamily="34" charset="0"/>
                <a:ea typeface="Calibri" pitchFamily="34" charset="-122"/>
                <a:cs typeface="Calibri" pitchFamily="34" charset="-120"/>
              </a:rPr>
              <a:t>Team: Carnegie Mellon University in Qatar — Emerging Technology Course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Tartan Scotty — AI Student Assistant</dc:title>
  <dc:subject>PptxGenJS Presentation</dc:subject>
  <dc:creator>Carnegie Mellon University in Qatar — Emerging Technology Team</dc:creator>
  <cp:lastModifiedBy>Carnegie Mellon University in Qatar — Emerging Technology Team</cp:lastModifiedBy>
  <cp:revision>1</cp:revision>
  <dcterms:created xsi:type="dcterms:W3CDTF">2026-06-10T06:15:45Z</dcterms:created>
  <dcterms:modified xsi:type="dcterms:W3CDTF">2026-06-10T06:15:45Z</dcterms:modified>
</cp:coreProperties>
</file>